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0"/>
  </p:notesMasterIdLst>
  <p:sldIdLst>
    <p:sldId id="256" r:id="rId2"/>
    <p:sldId id="257" r:id="rId3"/>
    <p:sldId id="262" r:id="rId4"/>
    <p:sldId id="261" r:id="rId5"/>
    <p:sldId id="263" r:id="rId6"/>
    <p:sldId id="264" r:id="rId7"/>
    <p:sldId id="265" r:id="rId8"/>
    <p:sldId id="272" r:id="rId9"/>
    <p:sldId id="279" r:id="rId10"/>
    <p:sldId id="266" r:id="rId11"/>
    <p:sldId id="268" r:id="rId12"/>
    <p:sldId id="269" r:id="rId13"/>
    <p:sldId id="270" r:id="rId14"/>
    <p:sldId id="271" r:id="rId15"/>
    <p:sldId id="283" r:id="rId16"/>
    <p:sldId id="274" r:id="rId17"/>
    <p:sldId id="277" r:id="rId18"/>
    <p:sldId id="273" r:id="rId19"/>
    <p:sldId id="284" r:id="rId20"/>
    <p:sldId id="285" r:id="rId21"/>
    <p:sldId id="275" r:id="rId22"/>
    <p:sldId id="276" r:id="rId23"/>
    <p:sldId id="278" r:id="rId24"/>
    <p:sldId id="282" r:id="rId25"/>
    <p:sldId id="259" r:id="rId26"/>
    <p:sldId id="267" r:id="rId27"/>
    <p:sldId id="280"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FD8EA-F304-4FA1-BB59-EE8AB156BA79}" v="153" dt="2026-03-26T08:58:28.3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922" autoAdjust="0"/>
  </p:normalViewPr>
  <p:slideViewPr>
    <p:cSldViewPr snapToGrid="0">
      <p:cViewPr varScale="1">
        <p:scale>
          <a:sx n="70" d="100"/>
          <a:sy n="70" d="100"/>
        </p:scale>
        <p:origin x="21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ttmann Wann" userId="de228b634143938e" providerId="LiveId" clId="{3A13AA86-EDA2-4C22-A8C9-DB3AB5867196}"/>
    <pc:docChg chg="undo redo custSel addSld delSld modSld sldOrd">
      <pc:chgData name="Battmann Wann" userId="de228b634143938e" providerId="LiveId" clId="{3A13AA86-EDA2-4C22-A8C9-DB3AB5867196}" dt="2026-03-26T08:59:02.035" v="16646" actId="14100"/>
      <pc:docMkLst>
        <pc:docMk/>
      </pc:docMkLst>
      <pc:sldChg chg="addSp delSp modSp mod setBg addAnim delDesignElem">
        <pc:chgData name="Battmann Wann" userId="de228b634143938e" providerId="LiveId" clId="{3A13AA86-EDA2-4C22-A8C9-DB3AB5867196}" dt="2026-03-23T15:02:58.566" v="12819" actId="1076"/>
        <pc:sldMkLst>
          <pc:docMk/>
          <pc:sldMk cId="593998758" sldId="256"/>
        </pc:sldMkLst>
        <pc:spChg chg="mod">
          <ac:chgData name="Battmann Wann" userId="de228b634143938e" providerId="LiveId" clId="{3A13AA86-EDA2-4C22-A8C9-DB3AB5867196}" dt="2026-03-23T11:31:00.198" v="2949" actId="26606"/>
          <ac:spMkLst>
            <pc:docMk/>
            <pc:sldMk cId="593998758" sldId="256"/>
            <ac:spMk id="2" creationId="{DC1A0E2F-56DE-DCB6-38E0-E2FB967D98AB}"/>
          </ac:spMkLst>
        </pc:spChg>
        <pc:spChg chg="mod">
          <ac:chgData name="Battmann Wann" userId="de228b634143938e" providerId="LiveId" clId="{3A13AA86-EDA2-4C22-A8C9-DB3AB5867196}" dt="2026-03-23T15:02:58.566" v="12819" actId="1076"/>
          <ac:spMkLst>
            <pc:docMk/>
            <pc:sldMk cId="593998758" sldId="256"/>
            <ac:spMk id="3" creationId="{503FF60E-2120-99FB-98D8-8CFA43F45319}"/>
          </ac:spMkLst>
        </pc:spChg>
        <pc:spChg chg="add mod ord">
          <ac:chgData name="Battmann Wann" userId="de228b634143938e" providerId="LiveId" clId="{3A13AA86-EDA2-4C22-A8C9-DB3AB5867196}" dt="2026-03-23T11:35:10.662" v="2958" actId="171"/>
          <ac:spMkLst>
            <pc:docMk/>
            <pc:sldMk cId="593998758" sldId="256"/>
            <ac:spMk id="11" creationId="{936CEF04-2623-FA3A-1893-4A538C145E45}"/>
          </ac:spMkLst>
        </pc:spChg>
        <pc:spChg chg="add">
          <ac:chgData name="Battmann Wann" userId="de228b634143938e" providerId="LiveId" clId="{3A13AA86-EDA2-4C22-A8C9-DB3AB5867196}" dt="2026-03-23T11:31:00.198" v="2949" actId="26606"/>
          <ac:spMkLst>
            <pc:docMk/>
            <pc:sldMk cId="593998758" sldId="256"/>
            <ac:spMk id="14" creationId="{32E62931-8EB4-42BB-BAAB-D8757BE66D8E}"/>
          </ac:spMkLst>
        </pc:spChg>
        <pc:picChg chg="add mod">
          <ac:chgData name="Battmann Wann" userId="de228b634143938e" providerId="LiveId" clId="{3A13AA86-EDA2-4C22-A8C9-DB3AB5867196}" dt="2026-03-23T11:31:00.198" v="2949" actId="26606"/>
          <ac:picMkLst>
            <pc:docMk/>
            <pc:sldMk cId="593998758" sldId="256"/>
            <ac:picMk id="8" creationId="{BA869469-60D3-C2BA-53C2-FB94E7038C1B}"/>
          </ac:picMkLst>
        </pc:picChg>
        <pc:picChg chg="add mod">
          <ac:chgData name="Battmann Wann" userId="de228b634143938e" providerId="LiveId" clId="{3A13AA86-EDA2-4C22-A8C9-DB3AB5867196}" dt="2026-03-23T11:30:46.950" v="2948"/>
          <ac:picMkLst>
            <pc:docMk/>
            <pc:sldMk cId="593998758" sldId="256"/>
            <ac:picMk id="9" creationId="{A475BE4C-BF9D-295D-7C4B-7A979980CE6A}"/>
          </ac:picMkLst>
        </pc:picChg>
      </pc:sldChg>
      <pc:sldChg chg="addSp delSp modSp mod modNotesTx">
        <pc:chgData name="Battmann Wann" userId="de228b634143938e" providerId="LiveId" clId="{3A13AA86-EDA2-4C22-A8C9-DB3AB5867196}" dt="2026-03-23T15:56:02.301" v="14867" actId="20577"/>
        <pc:sldMkLst>
          <pc:docMk/>
          <pc:sldMk cId="2391996580" sldId="257"/>
        </pc:sldMkLst>
        <pc:spChg chg="add mod">
          <ac:chgData name="Battmann Wann" userId="de228b634143938e" providerId="LiveId" clId="{3A13AA86-EDA2-4C22-A8C9-DB3AB5867196}" dt="2026-03-23T15:23:15.076" v="13263" actId="1076"/>
          <ac:spMkLst>
            <pc:docMk/>
            <pc:sldMk cId="2391996580" sldId="257"/>
            <ac:spMk id="10" creationId="{E6EF104B-7932-FD6D-0B76-1D007436974D}"/>
          </ac:spMkLst>
        </pc:spChg>
        <pc:spChg chg="add mod">
          <ac:chgData name="Battmann Wann" userId="de228b634143938e" providerId="LiveId" clId="{3A13AA86-EDA2-4C22-A8C9-DB3AB5867196}" dt="2026-03-23T15:17:05.559" v="13112" actId="1076"/>
          <ac:spMkLst>
            <pc:docMk/>
            <pc:sldMk cId="2391996580" sldId="257"/>
            <ac:spMk id="15" creationId="{D348211E-61C6-80D0-C1AB-487978B10FA4}"/>
          </ac:spMkLst>
        </pc:spChg>
        <pc:spChg chg="add mod">
          <ac:chgData name="Battmann Wann" userId="de228b634143938e" providerId="LiveId" clId="{3A13AA86-EDA2-4C22-A8C9-DB3AB5867196}" dt="2026-03-23T15:17:05.559" v="13112" actId="1076"/>
          <ac:spMkLst>
            <pc:docMk/>
            <pc:sldMk cId="2391996580" sldId="257"/>
            <ac:spMk id="17" creationId="{43A56924-5751-C4B1-E43B-98391347F4CD}"/>
          </ac:spMkLst>
        </pc:spChg>
        <pc:spChg chg="add mod">
          <ac:chgData name="Battmann Wann" userId="de228b634143938e" providerId="LiveId" clId="{3A13AA86-EDA2-4C22-A8C9-DB3AB5867196}" dt="2026-03-23T15:23:08.926" v="13262" actId="20577"/>
          <ac:spMkLst>
            <pc:docMk/>
            <pc:sldMk cId="2391996580" sldId="257"/>
            <ac:spMk id="18" creationId="{08D6B96B-48B1-B111-5273-07FC56EF1FA6}"/>
          </ac:spMkLst>
        </pc:spChg>
        <pc:graphicFrameChg chg="add mod">
          <ac:chgData name="Battmann Wann" userId="de228b634143938e" providerId="LiveId" clId="{3A13AA86-EDA2-4C22-A8C9-DB3AB5867196}" dt="2026-03-23T15:17:39.789" v="13117" actId="1076"/>
          <ac:graphicFrameMkLst>
            <pc:docMk/>
            <pc:sldMk cId="2391996580" sldId="257"/>
            <ac:graphicFrameMk id="16" creationId="{D86906DD-F6C7-8FF6-4CB1-A9AEC7552B2A}"/>
          </ac:graphicFrameMkLst>
        </pc:graphicFrameChg>
        <pc:picChg chg="add mod">
          <ac:chgData name="Battmann Wann" userId="de228b634143938e" providerId="LiveId" clId="{3A13AA86-EDA2-4C22-A8C9-DB3AB5867196}" dt="2026-03-23T15:22:13.662" v="13226" actId="1076"/>
          <ac:picMkLst>
            <pc:docMk/>
            <pc:sldMk cId="2391996580" sldId="257"/>
            <ac:picMk id="6" creationId="{91BBB300-C427-27B1-06A9-D836682DC9E5}"/>
          </ac:picMkLst>
        </pc:picChg>
        <pc:picChg chg="add mod">
          <ac:chgData name="Battmann Wann" userId="de228b634143938e" providerId="LiveId" clId="{3A13AA86-EDA2-4C22-A8C9-DB3AB5867196}" dt="2026-03-23T15:22:20.598" v="13227" actId="1076"/>
          <ac:picMkLst>
            <pc:docMk/>
            <pc:sldMk cId="2391996580" sldId="257"/>
            <ac:picMk id="12" creationId="{D7788448-DAE6-C36B-B35F-6E03329110CC}"/>
          </ac:picMkLst>
        </pc:picChg>
      </pc:sldChg>
      <pc:sldChg chg="addSp delSp modSp new mod ord">
        <pc:chgData name="Battmann Wann" userId="de228b634143938e" providerId="LiveId" clId="{3A13AA86-EDA2-4C22-A8C9-DB3AB5867196}" dt="2026-03-23T15:36:43.664" v="13457" actId="207"/>
        <pc:sldMkLst>
          <pc:docMk/>
          <pc:sldMk cId="3320657227" sldId="259"/>
        </pc:sldMkLst>
        <pc:spChg chg="mod">
          <ac:chgData name="Battmann Wann" userId="de228b634143938e" providerId="LiveId" clId="{3A13AA86-EDA2-4C22-A8C9-DB3AB5867196}" dt="2026-03-23T15:36:43.664" v="13457" actId="207"/>
          <ac:spMkLst>
            <pc:docMk/>
            <pc:sldMk cId="3320657227" sldId="259"/>
            <ac:spMk id="2" creationId="{0DA1518D-DABA-4ACA-92FE-EB65C79A597E}"/>
          </ac:spMkLst>
        </pc:spChg>
        <pc:spChg chg="mod">
          <ac:chgData name="Battmann Wann" userId="de228b634143938e" providerId="LiveId" clId="{3A13AA86-EDA2-4C22-A8C9-DB3AB5867196}" dt="2026-03-23T15:21:51.943" v="13225" actId="20577"/>
          <ac:spMkLst>
            <pc:docMk/>
            <pc:sldMk cId="3320657227" sldId="259"/>
            <ac:spMk id="3" creationId="{06B39249-D054-9108-1372-69758B0A0E62}"/>
          </ac:spMkLst>
        </pc:spChg>
        <pc:spChg chg="add mod ord">
          <ac:chgData name="Battmann Wann" userId="de228b634143938e" providerId="LiveId" clId="{3A13AA86-EDA2-4C22-A8C9-DB3AB5867196}" dt="2026-03-23T15:36:32.804" v="13455" actId="167"/>
          <ac:spMkLst>
            <pc:docMk/>
            <pc:sldMk cId="3320657227" sldId="259"/>
            <ac:spMk id="6" creationId="{7421F6C4-F8BA-9DE2-5BE7-EADA4D3AC620}"/>
          </ac:spMkLst>
        </pc:spChg>
      </pc:sldChg>
      <pc:sldChg chg="addSp modSp new mod modNotesTx">
        <pc:chgData name="Battmann Wann" userId="de228b634143938e" providerId="LiveId" clId="{3A13AA86-EDA2-4C22-A8C9-DB3AB5867196}" dt="2026-03-23T14:59:08.668" v="12544" actId="20577"/>
        <pc:sldMkLst>
          <pc:docMk/>
          <pc:sldMk cId="1393498217" sldId="261"/>
        </pc:sldMkLst>
        <pc:spChg chg="mod">
          <ac:chgData name="Battmann Wann" userId="de228b634143938e" providerId="LiveId" clId="{3A13AA86-EDA2-4C22-A8C9-DB3AB5867196}" dt="2026-03-23T11:40:25.260" v="2996" actId="1076"/>
          <ac:spMkLst>
            <pc:docMk/>
            <pc:sldMk cId="1393498217" sldId="261"/>
            <ac:spMk id="2" creationId="{73B33267-4C02-49B2-46D5-A74C3F65FF23}"/>
          </ac:spMkLst>
        </pc:spChg>
        <pc:spChg chg="mod">
          <ac:chgData name="Battmann Wann" userId="de228b634143938e" providerId="LiveId" clId="{3A13AA86-EDA2-4C22-A8C9-DB3AB5867196}" dt="2026-03-23T14:59:08.668" v="12544" actId="20577"/>
          <ac:spMkLst>
            <pc:docMk/>
            <pc:sldMk cId="1393498217" sldId="261"/>
            <ac:spMk id="3" creationId="{FC9BEB64-0D74-BB4E-A1F4-980A953DEAB5}"/>
          </ac:spMkLst>
        </pc:spChg>
        <pc:spChg chg="add mod ord">
          <ac:chgData name="Battmann Wann" userId="de228b634143938e" providerId="LiveId" clId="{3A13AA86-EDA2-4C22-A8C9-DB3AB5867196}" dt="2026-03-23T11:40:45.005" v="2997" actId="1076"/>
          <ac:spMkLst>
            <pc:docMk/>
            <pc:sldMk cId="1393498217" sldId="261"/>
            <ac:spMk id="6" creationId="{FC7EB02C-8013-9443-79D7-67D0FED6FEEC}"/>
          </ac:spMkLst>
        </pc:spChg>
        <pc:spChg chg="add mod">
          <ac:chgData name="Battmann Wann" userId="de228b634143938e" providerId="LiveId" clId="{3A13AA86-EDA2-4C22-A8C9-DB3AB5867196}" dt="2026-03-23T14:36:18.321" v="12165" actId="1076"/>
          <ac:spMkLst>
            <pc:docMk/>
            <pc:sldMk cId="1393498217" sldId="261"/>
            <ac:spMk id="7" creationId="{9DC2071F-7DD2-CF32-8F3F-9D41A51B7624}"/>
          </ac:spMkLst>
        </pc:spChg>
        <pc:picChg chg="add mod ord">
          <ac:chgData name="Battmann Wann" userId="de228b634143938e" providerId="LiveId" clId="{3A13AA86-EDA2-4C22-A8C9-DB3AB5867196}" dt="2026-03-23T13:13:40.071" v="7465" actId="1076"/>
          <ac:picMkLst>
            <pc:docMk/>
            <pc:sldMk cId="1393498217" sldId="261"/>
            <ac:picMk id="5" creationId="{A473E770-22C8-5D70-9913-EFEC7D1A4AF8}"/>
          </ac:picMkLst>
        </pc:picChg>
      </pc:sldChg>
      <pc:sldChg chg="addSp delSp modSp add mod modNotesTx">
        <pc:chgData name="Battmann Wann" userId="de228b634143938e" providerId="LiveId" clId="{3A13AA86-EDA2-4C22-A8C9-DB3AB5867196}" dt="2026-03-23T15:59:56.095" v="15588" actId="20577"/>
        <pc:sldMkLst>
          <pc:docMk/>
          <pc:sldMk cId="68110514" sldId="262"/>
        </pc:sldMkLst>
        <pc:spChg chg="mod">
          <ac:chgData name="Battmann Wann" userId="de228b634143938e" providerId="LiveId" clId="{3A13AA86-EDA2-4C22-A8C9-DB3AB5867196}" dt="2026-03-23T11:37:29.252" v="2974" actId="14100"/>
          <ac:spMkLst>
            <pc:docMk/>
            <pc:sldMk cId="68110514" sldId="262"/>
            <ac:spMk id="3" creationId="{D0418438-6BF1-7B08-229A-EF68225B3139}"/>
          </ac:spMkLst>
        </pc:spChg>
        <pc:spChg chg="add mod">
          <ac:chgData name="Battmann Wann" userId="de228b634143938e" providerId="LiveId" clId="{3A13AA86-EDA2-4C22-A8C9-DB3AB5867196}" dt="2026-03-23T11:36:36.020" v="2969" actId="1076"/>
          <ac:spMkLst>
            <pc:docMk/>
            <pc:sldMk cId="68110514" sldId="262"/>
            <ac:spMk id="9" creationId="{97CDB493-3B29-DB17-94D6-978DD07641E9}"/>
          </ac:spMkLst>
        </pc:spChg>
        <pc:spChg chg="add mod">
          <ac:chgData name="Battmann Wann" userId="de228b634143938e" providerId="LiveId" clId="{3A13AA86-EDA2-4C22-A8C9-DB3AB5867196}" dt="2026-03-23T15:56:54.448" v="14872" actId="1076"/>
          <ac:spMkLst>
            <pc:docMk/>
            <pc:sldMk cId="68110514" sldId="262"/>
            <ac:spMk id="10" creationId="{0DB75C2B-E23A-C929-8D90-FE1F98B5F1EB}"/>
          </ac:spMkLst>
        </pc:spChg>
        <pc:spChg chg="add mod">
          <ac:chgData name="Battmann Wann" userId="de228b634143938e" providerId="LiveId" clId="{3A13AA86-EDA2-4C22-A8C9-DB3AB5867196}" dt="2026-03-23T15:57:01.482" v="14874" actId="1076"/>
          <ac:spMkLst>
            <pc:docMk/>
            <pc:sldMk cId="68110514" sldId="262"/>
            <ac:spMk id="12" creationId="{F0B403C9-B3AA-B1FE-C1E3-1D82AF912632}"/>
          </ac:spMkLst>
        </pc:spChg>
        <pc:picChg chg="add mod">
          <ac:chgData name="Battmann Wann" userId="de228b634143938e" providerId="LiveId" clId="{3A13AA86-EDA2-4C22-A8C9-DB3AB5867196}" dt="2026-03-23T11:37:45.571" v="2976" actId="1076"/>
          <ac:picMkLst>
            <pc:docMk/>
            <pc:sldMk cId="68110514" sldId="262"/>
            <ac:picMk id="11" creationId="{E6CE9E4C-0D37-583C-ABD4-C583F88B4551}"/>
          </ac:picMkLst>
        </pc:picChg>
      </pc:sldChg>
      <pc:sldChg chg="modSp add mod ord modNotesTx">
        <pc:chgData name="Battmann Wann" userId="de228b634143938e" providerId="LiveId" clId="{3A13AA86-EDA2-4C22-A8C9-DB3AB5867196}" dt="2026-03-23T11:53:13.027" v="4377" actId="20577"/>
        <pc:sldMkLst>
          <pc:docMk/>
          <pc:sldMk cId="3799134729" sldId="263"/>
        </pc:sldMkLst>
        <pc:spChg chg="mod">
          <ac:chgData name="Battmann Wann" userId="de228b634143938e" providerId="LiveId" clId="{3A13AA86-EDA2-4C22-A8C9-DB3AB5867196}" dt="2026-03-23T11:45:42.785" v="3042" actId="20577"/>
          <ac:spMkLst>
            <pc:docMk/>
            <pc:sldMk cId="3799134729" sldId="263"/>
            <ac:spMk id="2" creationId="{E839972D-594A-2ECA-6EC7-9E85DE6A86C2}"/>
          </ac:spMkLst>
        </pc:spChg>
        <pc:spChg chg="mod">
          <ac:chgData name="Battmann Wann" userId="de228b634143938e" providerId="LiveId" clId="{3A13AA86-EDA2-4C22-A8C9-DB3AB5867196}" dt="2026-03-23T11:50:44.771" v="3827" actId="5793"/>
          <ac:spMkLst>
            <pc:docMk/>
            <pc:sldMk cId="3799134729" sldId="263"/>
            <ac:spMk id="3" creationId="{86F5FB62-45B2-A9AA-0032-D5AD2AA8373D}"/>
          </ac:spMkLst>
        </pc:spChg>
      </pc:sldChg>
      <pc:sldChg chg="addSp delSp modSp add mod ord modNotesTx">
        <pc:chgData name="Battmann Wann" userId="de228b634143938e" providerId="LiveId" clId="{3A13AA86-EDA2-4C22-A8C9-DB3AB5867196}" dt="2026-03-23T11:57:29.085" v="4814" actId="20577"/>
        <pc:sldMkLst>
          <pc:docMk/>
          <pc:sldMk cId="850675762" sldId="264"/>
        </pc:sldMkLst>
        <pc:spChg chg="mod">
          <ac:chgData name="Battmann Wann" userId="de228b634143938e" providerId="LiveId" clId="{3A13AA86-EDA2-4C22-A8C9-DB3AB5867196}" dt="2026-03-23T11:53:46.461" v="4415" actId="20577"/>
          <ac:spMkLst>
            <pc:docMk/>
            <pc:sldMk cId="850675762" sldId="264"/>
            <ac:spMk id="2" creationId="{2C96461C-6FAE-6525-970E-CD7FD90E57A5}"/>
          </ac:spMkLst>
        </pc:spChg>
        <pc:picChg chg="add mod">
          <ac:chgData name="Battmann Wann" userId="de228b634143938e" providerId="LiveId" clId="{3A13AA86-EDA2-4C22-A8C9-DB3AB5867196}" dt="2026-03-23T11:55:37.272" v="4420" actId="1076"/>
          <ac:picMkLst>
            <pc:docMk/>
            <pc:sldMk cId="850675762" sldId="264"/>
            <ac:picMk id="8" creationId="{155597AE-C7A4-DDD5-A8D9-45E243FC3621}"/>
          </ac:picMkLst>
        </pc:picChg>
      </pc:sldChg>
      <pc:sldChg chg="addSp modSp add mod ord modNotesTx">
        <pc:chgData name="Battmann Wann" userId="de228b634143938e" providerId="LiveId" clId="{3A13AA86-EDA2-4C22-A8C9-DB3AB5867196}" dt="2026-03-23T16:04:59.362" v="15590"/>
        <pc:sldMkLst>
          <pc:docMk/>
          <pc:sldMk cId="447728378" sldId="265"/>
        </pc:sldMkLst>
        <pc:spChg chg="mod">
          <ac:chgData name="Battmann Wann" userId="de228b634143938e" providerId="LiveId" clId="{3A13AA86-EDA2-4C22-A8C9-DB3AB5867196}" dt="2026-03-23T13:14:57.863" v="7467" actId="20577"/>
          <ac:spMkLst>
            <pc:docMk/>
            <pc:sldMk cId="447728378" sldId="265"/>
            <ac:spMk id="2" creationId="{DE65A9B7-9E41-122F-E4A0-4F3CA4D68083}"/>
          </ac:spMkLst>
        </pc:spChg>
        <pc:picChg chg="add mod">
          <ac:chgData name="Battmann Wann" userId="de228b634143938e" providerId="LiveId" clId="{3A13AA86-EDA2-4C22-A8C9-DB3AB5867196}" dt="2026-03-23T11:57:54.013" v="4818" actId="1076"/>
          <ac:picMkLst>
            <pc:docMk/>
            <pc:sldMk cId="447728378" sldId="265"/>
            <ac:picMk id="5" creationId="{C33381A9-A929-D0B8-C8F0-FC79D21BDE9C}"/>
          </ac:picMkLst>
        </pc:picChg>
      </pc:sldChg>
      <pc:sldChg chg="modSp add mod ord modNotesTx">
        <pc:chgData name="Battmann Wann" userId="de228b634143938e" providerId="LiveId" clId="{3A13AA86-EDA2-4C22-A8C9-DB3AB5867196}" dt="2026-03-23T16:06:09.687" v="15639" actId="20577"/>
        <pc:sldMkLst>
          <pc:docMk/>
          <pc:sldMk cId="2236884785" sldId="266"/>
        </pc:sldMkLst>
        <pc:spChg chg="mod">
          <ac:chgData name="Battmann Wann" userId="de228b634143938e" providerId="LiveId" clId="{3A13AA86-EDA2-4C22-A8C9-DB3AB5867196}" dt="2026-03-23T11:58:56.927" v="5023" actId="20577"/>
          <ac:spMkLst>
            <pc:docMk/>
            <pc:sldMk cId="2236884785" sldId="266"/>
            <ac:spMk id="2" creationId="{2B762509-B20A-2C26-A35B-E9E9D2D240E4}"/>
          </ac:spMkLst>
        </pc:spChg>
        <pc:spChg chg="mod">
          <ac:chgData name="Battmann Wann" userId="de228b634143938e" providerId="LiveId" clId="{3A13AA86-EDA2-4C22-A8C9-DB3AB5867196}" dt="2026-03-23T14:59:50.463" v="12552" actId="20577"/>
          <ac:spMkLst>
            <pc:docMk/>
            <pc:sldMk cId="2236884785" sldId="266"/>
            <ac:spMk id="3" creationId="{1C8CA87F-05EF-3372-C218-345D83108B98}"/>
          </ac:spMkLst>
        </pc:spChg>
      </pc:sldChg>
      <pc:sldChg chg="modSp add mod ord modNotesTx">
        <pc:chgData name="Battmann Wann" userId="de228b634143938e" providerId="LiveId" clId="{3A13AA86-EDA2-4C22-A8C9-DB3AB5867196}" dt="2026-03-23T14:33:49.100" v="12151"/>
        <pc:sldMkLst>
          <pc:docMk/>
          <pc:sldMk cId="2919964797" sldId="267"/>
        </pc:sldMkLst>
        <pc:spChg chg="mod">
          <ac:chgData name="Battmann Wann" userId="de228b634143938e" providerId="LiveId" clId="{3A13AA86-EDA2-4C22-A8C9-DB3AB5867196}" dt="2026-03-23T14:33:09.790" v="12112" actId="20577"/>
          <ac:spMkLst>
            <pc:docMk/>
            <pc:sldMk cId="2919964797" sldId="267"/>
            <ac:spMk id="2" creationId="{F9228739-DC24-488A-6B18-4C50EB612205}"/>
          </ac:spMkLst>
        </pc:spChg>
        <pc:spChg chg="mod">
          <ac:chgData name="Battmann Wann" userId="de228b634143938e" providerId="LiveId" clId="{3A13AA86-EDA2-4C22-A8C9-DB3AB5867196}" dt="2026-03-23T14:33:39.862" v="12149" actId="403"/>
          <ac:spMkLst>
            <pc:docMk/>
            <pc:sldMk cId="2919964797" sldId="267"/>
            <ac:spMk id="3" creationId="{BFECC2D4-4A00-7AD0-BCFA-56FD5139E83E}"/>
          </ac:spMkLst>
        </pc:spChg>
      </pc:sldChg>
      <pc:sldChg chg="modSp add mod ord modNotesTx">
        <pc:chgData name="Battmann Wann" userId="de228b634143938e" providerId="LiveId" clId="{3A13AA86-EDA2-4C22-A8C9-DB3AB5867196}" dt="2026-03-23T18:09:30.453" v="16327" actId="20577"/>
        <pc:sldMkLst>
          <pc:docMk/>
          <pc:sldMk cId="1142720286" sldId="268"/>
        </pc:sldMkLst>
        <pc:spChg chg="mod">
          <ac:chgData name="Battmann Wann" userId="de228b634143938e" providerId="LiveId" clId="{3A13AA86-EDA2-4C22-A8C9-DB3AB5867196}" dt="2026-03-23T12:04:19.160" v="5986" actId="20577"/>
          <ac:spMkLst>
            <pc:docMk/>
            <pc:sldMk cId="1142720286" sldId="268"/>
            <ac:spMk id="2" creationId="{8B0332DC-A11E-5D76-253A-6A3E3CFA8AB0}"/>
          </ac:spMkLst>
        </pc:spChg>
        <pc:spChg chg="mod">
          <ac:chgData name="Battmann Wann" userId="de228b634143938e" providerId="LiveId" clId="{3A13AA86-EDA2-4C22-A8C9-DB3AB5867196}" dt="2026-03-23T18:09:30.453" v="16327" actId="20577"/>
          <ac:spMkLst>
            <pc:docMk/>
            <pc:sldMk cId="1142720286" sldId="268"/>
            <ac:spMk id="3" creationId="{5FD59795-0553-9AFD-D953-EFAA84AF2B30}"/>
          </ac:spMkLst>
        </pc:spChg>
      </pc:sldChg>
      <pc:sldChg chg="addSp delSp modSp add mod ord">
        <pc:chgData name="Battmann Wann" userId="de228b634143938e" providerId="LiveId" clId="{3A13AA86-EDA2-4C22-A8C9-DB3AB5867196}" dt="2026-03-23T13:11:41.685" v="7453" actId="14100"/>
        <pc:sldMkLst>
          <pc:docMk/>
          <pc:sldMk cId="1289596529" sldId="269"/>
        </pc:sldMkLst>
        <pc:spChg chg="mod">
          <ac:chgData name="Battmann Wann" userId="de228b634143938e" providerId="LiveId" clId="{3A13AA86-EDA2-4C22-A8C9-DB3AB5867196}" dt="2026-03-23T13:10:21.321" v="7442" actId="1076"/>
          <ac:spMkLst>
            <pc:docMk/>
            <pc:sldMk cId="1289596529" sldId="269"/>
            <ac:spMk id="2" creationId="{1106076E-AE82-26A8-97C6-309ED56C9AF3}"/>
          </ac:spMkLst>
        </pc:spChg>
        <pc:spChg chg="mod">
          <ac:chgData name="Battmann Wann" userId="de228b634143938e" providerId="LiveId" clId="{3A13AA86-EDA2-4C22-A8C9-DB3AB5867196}" dt="2026-03-23T13:10:37.072" v="7444" actId="14100"/>
          <ac:spMkLst>
            <pc:docMk/>
            <pc:sldMk cId="1289596529" sldId="269"/>
            <ac:spMk id="4" creationId="{4041E417-7996-11B6-4742-0597D681437C}"/>
          </ac:spMkLst>
        </pc:spChg>
        <pc:picChg chg="add mod">
          <ac:chgData name="Battmann Wann" userId="de228b634143938e" providerId="LiveId" clId="{3A13AA86-EDA2-4C22-A8C9-DB3AB5867196}" dt="2026-03-23T13:11:41.685" v="7453" actId="14100"/>
          <ac:picMkLst>
            <pc:docMk/>
            <pc:sldMk cId="1289596529" sldId="269"/>
            <ac:picMk id="6" creationId="{6270EB0A-D06A-9040-A79E-418DDC123EF4}"/>
          </ac:picMkLst>
        </pc:picChg>
      </pc:sldChg>
      <pc:sldChg chg="addSp delSp modSp add mod">
        <pc:chgData name="Battmann Wann" userId="de228b634143938e" providerId="LiveId" clId="{3A13AA86-EDA2-4C22-A8C9-DB3AB5867196}" dt="2026-03-23T13:11:24.803" v="7451" actId="1076"/>
        <pc:sldMkLst>
          <pc:docMk/>
          <pc:sldMk cId="836089036" sldId="270"/>
        </pc:sldMkLst>
        <pc:spChg chg="mod">
          <ac:chgData name="Battmann Wann" userId="de228b634143938e" providerId="LiveId" clId="{3A13AA86-EDA2-4C22-A8C9-DB3AB5867196}" dt="2026-03-23T13:10:48.337" v="7447" actId="20577"/>
          <ac:spMkLst>
            <pc:docMk/>
            <pc:sldMk cId="836089036" sldId="270"/>
            <ac:spMk id="2" creationId="{228588EE-CA79-13DC-7E76-5F5E75FB8AEA}"/>
          </ac:spMkLst>
        </pc:spChg>
        <pc:picChg chg="add mod">
          <ac:chgData name="Battmann Wann" userId="de228b634143938e" providerId="LiveId" clId="{3A13AA86-EDA2-4C22-A8C9-DB3AB5867196}" dt="2026-03-23T13:11:24.803" v="7451" actId="1076"/>
          <ac:picMkLst>
            <pc:docMk/>
            <pc:sldMk cId="836089036" sldId="270"/>
            <ac:picMk id="5" creationId="{F39BFA44-215C-9916-09E3-5A00098D51E5}"/>
          </ac:picMkLst>
        </pc:picChg>
      </pc:sldChg>
      <pc:sldChg chg="addSp delSp modSp add mod modNotesTx">
        <pc:chgData name="Battmann Wann" userId="de228b634143938e" providerId="LiveId" clId="{3A13AA86-EDA2-4C22-A8C9-DB3AB5867196}" dt="2026-03-23T16:07:44.006" v="15648" actId="20577"/>
        <pc:sldMkLst>
          <pc:docMk/>
          <pc:sldMk cId="140766531" sldId="271"/>
        </pc:sldMkLst>
        <pc:spChg chg="mod">
          <ac:chgData name="Battmann Wann" userId="de228b634143938e" providerId="LiveId" clId="{3A13AA86-EDA2-4C22-A8C9-DB3AB5867196}" dt="2026-03-23T16:07:33.649" v="15641" actId="20577"/>
          <ac:spMkLst>
            <pc:docMk/>
            <pc:sldMk cId="140766531" sldId="271"/>
            <ac:spMk id="2" creationId="{26B9AEE9-F41A-0C8D-29CD-12B453B2C12C}"/>
          </ac:spMkLst>
        </pc:spChg>
        <pc:picChg chg="add mod">
          <ac:chgData name="Battmann Wann" userId="de228b634143938e" providerId="LiveId" clId="{3A13AA86-EDA2-4C22-A8C9-DB3AB5867196}" dt="2026-03-23T13:12:09.501" v="7462" actId="1076"/>
          <ac:picMkLst>
            <pc:docMk/>
            <pc:sldMk cId="140766531" sldId="271"/>
            <ac:picMk id="6" creationId="{D35AC415-CE6B-4F23-7C78-B36022B0259E}"/>
          </ac:picMkLst>
        </pc:picChg>
      </pc:sldChg>
      <pc:sldChg chg="addSp delSp modSp add mod modNotesTx">
        <pc:chgData name="Battmann Wann" userId="de228b634143938e" providerId="LiveId" clId="{3A13AA86-EDA2-4C22-A8C9-DB3AB5867196}" dt="2026-03-23T13:16:28.493" v="7621" actId="20577"/>
        <pc:sldMkLst>
          <pc:docMk/>
          <pc:sldMk cId="38475301" sldId="272"/>
        </pc:sldMkLst>
        <pc:picChg chg="add mod">
          <ac:chgData name="Battmann Wann" userId="de228b634143938e" providerId="LiveId" clId="{3A13AA86-EDA2-4C22-A8C9-DB3AB5867196}" dt="2026-03-23T13:15:32.812" v="7472" actId="1076"/>
          <ac:picMkLst>
            <pc:docMk/>
            <pc:sldMk cId="38475301" sldId="272"/>
            <ac:picMk id="5" creationId="{B0F8FBCB-3F9A-0AD3-B412-63AC9DE94FA0}"/>
          </ac:picMkLst>
        </pc:picChg>
      </pc:sldChg>
      <pc:sldChg chg="modSp add mod ord modNotesTx">
        <pc:chgData name="Battmann Wann" userId="de228b634143938e" providerId="LiveId" clId="{3A13AA86-EDA2-4C22-A8C9-DB3AB5867196}" dt="2026-03-23T14:20:25.201" v="10994"/>
        <pc:sldMkLst>
          <pc:docMk/>
          <pc:sldMk cId="304512361" sldId="273"/>
        </pc:sldMkLst>
        <pc:spChg chg="mod">
          <ac:chgData name="Battmann Wann" userId="de228b634143938e" providerId="LiveId" clId="{3A13AA86-EDA2-4C22-A8C9-DB3AB5867196}" dt="2026-03-23T14:08:16.214" v="8496" actId="20577"/>
          <ac:spMkLst>
            <pc:docMk/>
            <pc:sldMk cId="304512361" sldId="273"/>
            <ac:spMk id="2" creationId="{04D65793-15A6-71A9-AA12-287D790950B9}"/>
          </ac:spMkLst>
        </pc:spChg>
        <pc:spChg chg="mod">
          <ac:chgData name="Battmann Wann" userId="de228b634143938e" providerId="LiveId" clId="{3A13AA86-EDA2-4C22-A8C9-DB3AB5867196}" dt="2026-03-23T13:47:24.986" v="8109" actId="20577"/>
          <ac:spMkLst>
            <pc:docMk/>
            <pc:sldMk cId="304512361" sldId="273"/>
            <ac:spMk id="3" creationId="{1BA12915-4A00-275F-B3AC-19C15BE907B9}"/>
          </ac:spMkLst>
        </pc:spChg>
      </pc:sldChg>
      <pc:sldChg chg="modSp add mod ord modNotesTx">
        <pc:chgData name="Battmann Wann" userId="de228b634143938e" providerId="LiveId" clId="{3A13AA86-EDA2-4C22-A8C9-DB3AB5867196}" dt="2026-03-23T14:12:56.071" v="9535" actId="20577"/>
        <pc:sldMkLst>
          <pc:docMk/>
          <pc:sldMk cId="4185212241" sldId="274"/>
        </pc:sldMkLst>
        <pc:spChg chg="mod">
          <ac:chgData name="Battmann Wann" userId="de228b634143938e" providerId="LiveId" clId="{3A13AA86-EDA2-4C22-A8C9-DB3AB5867196}" dt="2026-03-23T14:12:56.071" v="9535" actId="20577"/>
          <ac:spMkLst>
            <pc:docMk/>
            <pc:sldMk cId="4185212241" sldId="274"/>
            <ac:spMk id="2" creationId="{2CEDDF73-2814-5E1A-7976-44CE7819F807}"/>
          </ac:spMkLst>
        </pc:spChg>
        <pc:spChg chg="mod">
          <ac:chgData name="Battmann Wann" userId="de228b634143938e" providerId="LiveId" clId="{3A13AA86-EDA2-4C22-A8C9-DB3AB5867196}" dt="2026-03-23T14:10:01.567" v="8804" actId="20577"/>
          <ac:spMkLst>
            <pc:docMk/>
            <pc:sldMk cId="4185212241" sldId="274"/>
            <ac:spMk id="3" creationId="{1BB894B7-0D66-0C4F-29A2-BF9E584052D4}"/>
          </ac:spMkLst>
        </pc:spChg>
      </pc:sldChg>
      <pc:sldChg chg="addSp delSp modSp add mod ord modNotesTx">
        <pc:chgData name="Battmann Wann" userId="de228b634143938e" providerId="LiveId" clId="{3A13AA86-EDA2-4C22-A8C9-DB3AB5867196}" dt="2026-03-23T16:27:04.792" v="16170" actId="208"/>
        <pc:sldMkLst>
          <pc:docMk/>
          <pc:sldMk cId="1869951074" sldId="275"/>
        </pc:sldMkLst>
        <pc:spChg chg="mod">
          <ac:chgData name="Battmann Wann" userId="de228b634143938e" providerId="LiveId" clId="{3A13AA86-EDA2-4C22-A8C9-DB3AB5867196}" dt="2026-03-23T13:49:25.951" v="8153" actId="20577"/>
          <ac:spMkLst>
            <pc:docMk/>
            <pc:sldMk cId="1869951074" sldId="275"/>
            <ac:spMk id="2" creationId="{0C9BF498-B224-1546-4F1B-73BA07B6D13A}"/>
          </ac:spMkLst>
        </pc:spChg>
        <pc:spChg chg="add mod">
          <ac:chgData name="Battmann Wann" userId="de228b634143938e" providerId="LiveId" clId="{3A13AA86-EDA2-4C22-A8C9-DB3AB5867196}" dt="2026-03-23T16:27:04.792" v="16170" actId="208"/>
          <ac:spMkLst>
            <pc:docMk/>
            <pc:sldMk cId="1869951074" sldId="275"/>
            <ac:spMk id="5" creationId="{4812E2F4-E73B-D9F4-23F0-C3DB3DB44BF3}"/>
          </ac:spMkLst>
        </pc:spChg>
        <pc:graphicFrameChg chg="add mod">
          <ac:chgData name="Battmann Wann" userId="de228b634143938e" providerId="LiveId" clId="{3A13AA86-EDA2-4C22-A8C9-DB3AB5867196}" dt="2026-03-23T13:49:11.141" v="8129" actId="1076"/>
          <ac:graphicFrameMkLst>
            <pc:docMk/>
            <pc:sldMk cId="1869951074" sldId="275"/>
            <ac:graphicFrameMk id="3" creationId="{E6D24F37-9A31-DA89-E121-F37AEE846EFB}"/>
          </ac:graphicFrameMkLst>
        </pc:graphicFrameChg>
      </pc:sldChg>
      <pc:sldChg chg="addSp delSp modSp add mod">
        <pc:chgData name="Battmann Wann" userId="de228b634143938e" providerId="LiveId" clId="{3A13AA86-EDA2-4C22-A8C9-DB3AB5867196}" dt="2026-03-23T15:00:19.820" v="12576" actId="20577"/>
        <pc:sldMkLst>
          <pc:docMk/>
          <pc:sldMk cId="2518134382" sldId="276"/>
        </pc:sldMkLst>
        <pc:spChg chg="mod">
          <ac:chgData name="Battmann Wann" userId="de228b634143938e" providerId="LiveId" clId="{3A13AA86-EDA2-4C22-A8C9-DB3AB5867196}" dt="2026-03-23T15:00:19.820" v="12576" actId="20577"/>
          <ac:spMkLst>
            <pc:docMk/>
            <pc:sldMk cId="2518134382" sldId="276"/>
            <ac:spMk id="2" creationId="{BBB77132-D81F-9AF8-2466-C25FF7161540}"/>
          </ac:spMkLst>
        </pc:spChg>
        <pc:graphicFrameChg chg="add mod">
          <ac:chgData name="Battmann Wann" userId="de228b634143938e" providerId="LiveId" clId="{3A13AA86-EDA2-4C22-A8C9-DB3AB5867196}" dt="2026-03-23T13:54:42.179" v="8453" actId="1076"/>
          <ac:graphicFrameMkLst>
            <pc:docMk/>
            <pc:sldMk cId="2518134382" sldId="276"/>
            <ac:graphicFrameMk id="5" creationId="{0DA596CA-AC64-5EC4-0A08-472811C11627}"/>
          </ac:graphicFrameMkLst>
        </pc:graphicFrameChg>
        <pc:graphicFrameChg chg="add mod">
          <ac:chgData name="Battmann Wann" userId="de228b634143938e" providerId="LiveId" clId="{3A13AA86-EDA2-4C22-A8C9-DB3AB5867196}" dt="2026-03-23T13:54:45.321" v="8454" actId="14100"/>
          <ac:graphicFrameMkLst>
            <pc:docMk/>
            <pc:sldMk cId="2518134382" sldId="276"/>
            <ac:graphicFrameMk id="6" creationId="{35C45B9C-D8B8-9E49-CCB5-7846EACCF099}"/>
          </ac:graphicFrameMkLst>
        </pc:graphicFrameChg>
      </pc:sldChg>
      <pc:sldChg chg="addSp delSp modSp add mod ord modNotesTx">
        <pc:chgData name="Battmann Wann" userId="de228b634143938e" providerId="LiveId" clId="{3A13AA86-EDA2-4C22-A8C9-DB3AB5867196}" dt="2026-03-23T18:09:09.125" v="16308" actId="20577"/>
        <pc:sldMkLst>
          <pc:docMk/>
          <pc:sldMk cId="2447825055" sldId="277"/>
        </pc:sldMkLst>
        <pc:spChg chg="add del mod">
          <ac:chgData name="Battmann Wann" userId="de228b634143938e" providerId="LiveId" clId="{3A13AA86-EDA2-4C22-A8C9-DB3AB5867196}" dt="2026-03-23T14:23:56.940" v="11001" actId="21"/>
          <ac:spMkLst>
            <pc:docMk/>
            <pc:sldMk cId="2447825055" sldId="277"/>
            <ac:spMk id="2" creationId="{FF894E61-DE40-C050-A2CA-C5E5276B3995}"/>
          </ac:spMkLst>
        </pc:spChg>
        <pc:spChg chg="mod">
          <ac:chgData name="Battmann Wann" userId="de228b634143938e" providerId="LiveId" clId="{3A13AA86-EDA2-4C22-A8C9-DB3AB5867196}" dt="2026-03-23T14:24:11.126" v="11005" actId="1076"/>
          <ac:spMkLst>
            <pc:docMk/>
            <pc:sldMk cId="2447825055" sldId="277"/>
            <ac:spMk id="3" creationId="{69D77412-8AE8-D5FA-E828-73C6D0471D0D}"/>
          </ac:spMkLst>
        </pc:spChg>
        <pc:spChg chg="add del">
          <ac:chgData name="Battmann Wann" userId="de228b634143938e" providerId="LiveId" clId="{3A13AA86-EDA2-4C22-A8C9-DB3AB5867196}" dt="2026-03-23T14:23:56.940" v="11001" actId="21"/>
          <ac:spMkLst>
            <pc:docMk/>
            <pc:sldMk cId="2447825055" sldId="277"/>
            <ac:spMk id="4" creationId="{A53FDE1E-58F1-3360-5BBF-799CA69619A4}"/>
          </ac:spMkLst>
        </pc:spChg>
        <pc:picChg chg="add mod">
          <ac:chgData name="Battmann Wann" userId="de228b634143938e" providerId="LiveId" clId="{3A13AA86-EDA2-4C22-A8C9-DB3AB5867196}" dt="2026-03-23T16:29:59.411" v="16178" actId="1076"/>
          <ac:picMkLst>
            <pc:docMk/>
            <pc:sldMk cId="2447825055" sldId="277"/>
            <ac:picMk id="6" creationId="{D4BD3911-1973-16A9-CAE3-054606B8FCDF}"/>
          </ac:picMkLst>
        </pc:picChg>
        <pc:picChg chg="add mod">
          <ac:chgData name="Battmann Wann" userId="de228b634143938e" providerId="LiveId" clId="{3A13AA86-EDA2-4C22-A8C9-DB3AB5867196}" dt="2026-03-23T16:30:06.642" v="16181" actId="1076"/>
          <ac:picMkLst>
            <pc:docMk/>
            <pc:sldMk cId="2447825055" sldId="277"/>
            <ac:picMk id="10" creationId="{FF944F14-347D-EAA0-1A2E-2C41974CE917}"/>
          </ac:picMkLst>
        </pc:picChg>
      </pc:sldChg>
      <pc:sldChg chg="modSp add mod ord modNotesTx">
        <pc:chgData name="Battmann Wann" userId="de228b634143938e" providerId="LiveId" clId="{3A13AA86-EDA2-4C22-A8C9-DB3AB5867196}" dt="2026-03-23T15:44:11.622" v="14136" actId="20577"/>
        <pc:sldMkLst>
          <pc:docMk/>
          <pc:sldMk cId="1581229771" sldId="278"/>
        </pc:sldMkLst>
        <pc:spChg chg="mod">
          <ac:chgData name="Battmann Wann" userId="de228b634143938e" providerId="LiveId" clId="{3A13AA86-EDA2-4C22-A8C9-DB3AB5867196}" dt="2026-03-23T15:36:54.303" v="13458" actId="1076"/>
          <ac:spMkLst>
            <pc:docMk/>
            <pc:sldMk cId="1581229771" sldId="278"/>
            <ac:spMk id="2" creationId="{BC4F260C-0739-1079-CE37-E7F2BA7D45E0}"/>
          </ac:spMkLst>
        </pc:spChg>
        <pc:spChg chg="mod">
          <ac:chgData name="Battmann Wann" userId="de228b634143938e" providerId="LiveId" clId="{3A13AA86-EDA2-4C22-A8C9-DB3AB5867196}" dt="2026-03-23T15:44:11.622" v="14136" actId="20577"/>
          <ac:spMkLst>
            <pc:docMk/>
            <pc:sldMk cId="1581229771" sldId="278"/>
            <ac:spMk id="3" creationId="{6FBB48B2-F8FB-B970-E28F-F77DCAF14198}"/>
          </ac:spMkLst>
        </pc:spChg>
      </pc:sldChg>
      <pc:sldChg chg="addSp delSp modSp add mod">
        <pc:chgData name="Battmann Wann" userId="de228b634143938e" providerId="LiveId" clId="{3A13AA86-EDA2-4C22-A8C9-DB3AB5867196}" dt="2026-03-23T14:49:53.582" v="12302" actId="1076"/>
        <pc:sldMkLst>
          <pc:docMk/>
          <pc:sldMk cId="761928240" sldId="279"/>
        </pc:sldMkLst>
        <pc:picChg chg="add mod">
          <ac:chgData name="Battmann Wann" userId="de228b634143938e" providerId="LiveId" clId="{3A13AA86-EDA2-4C22-A8C9-DB3AB5867196}" dt="2026-03-23T14:49:53.582" v="12302" actId="1076"/>
          <ac:picMkLst>
            <pc:docMk/>
            <pc:sldMk cId="761928240" sldId="279"/>
            <ac:picMk id="6" creationId="{52995E9E-A224-F559-99B2-5FECDD4DF031}"/>
          </ac:picMkLst>
        </pc:picChg>
      </pc:sldChg>
      <pc:sldChg chg="addSp delSp modSp add mod modNotesTx">
        <pc:chgData name="Battmann Wann" userId="de228b634143938e" providerId="LiveId" clId="{3A13AA86-EDA2-4C22-A8C9-DB3AB5867196}" dt="2026-03-23T15:47:46.023" v="14212" actId="20577"/>
        <pc:sldMkLst>
          <pc:docMk/>
          <pc:sldMk cId="2248948709" sldId="280"/>
        </pc:sldMkLst>
        <pc:spChg chg="mod">
          <ac:chgData name="Battmann Wann" userId="de228b634143938e" providerId="LiveId" clId="{3A13AA86-EDA2-4C22-A8C9-DB3AB5867196}" dt="2026-03-23T15:34:14.882" v="13427" actId="207"/>
          <ac:spMkLst>
            <pc:docMk/>
            <pc:sldMk cId="2248948709" sldId="280"/>
            <ac:spMk id="2" creationId="{E065D9DE-4273-DAD6-E336-61A974E216F3}"/>
          </ac:spMkLst>
        </pc:spChg>
        <pc:spChg chg="add mod">
          <ac:chgData name="Battmann Wann" userId="de228b634143938e" providerId="LiveId" clId="{3A13AA86-EDA2-4C22-A8C9-DB3AB5867196}" dt="2026-03-23T15:46:06.561" v="14168" actId="1076"/>
          <ac:spMkLst>
            <pc:docMk/>
            <pc:sldMk cId="2248948709" sldId="280"/>
            <ac:spMk id="5" creationId="{3208F3BC-0686-EA70-7306-D9455DB4E6C5}"/>
          </ac:spMkLst>
        </pc:spChg>
        <pc:spChg chg="add mod">
          <ac:chgData name="Battmann Wann" userId="de228b634143938e" providerId="LiveId" clId="{3A13AA86-EDA2-4C22-A8C9-DB3AB5867196}" dt="2026-03-23T15:47:42.909" v="14211" actId="1076"/>
          <ac:spMkLst>
            <pc:docMk/>
            <pc:sldMk cId="2248948709" sldId="280"/>
            <ac:spMk id="9" creationId="{263A736E-1729-EEE9-86CC-D45BDA17DB64}"/>
          </ac:spMkLst>
        </pc:spChg>
        <pc:spChg chg="add mod ord">
          <ac:chgData name="Battmann Wann" userId="de228b634143938e" providerId="LiveId" clId="{3A13AA86-EDA2-4C22-A8C9-DB3AB5867196}" dt="2026-03-23T15:34:04.866" v="13425" actId="167"/>
          <ac:spMkLst>
            <pc:docMk/>
            <pc:sldMk cId="2248948709" sldId="280"/>
            <ac:spMk id="11" creationId="{E119E129-CB70-9F3B-0BC2-B38DB230C551}"/>
          </ac:spMkLst>
        </pc:spChg>
      </pc:sldChg>
      <pc:sldChg chg="addSp delSp modSp add mod">
        <pc:chgData name="Battmann Wann" userId="de228b634143938e" providerId="LiveId" clId="{3A13AA86-EDA2-4C22-A8C9-DB3AB5867196}" dt="2026-03-23T15:35:49.653" v="13447" actId="20577"/>
        <pc:sldMkLst>
          <pc:docMk/>
          <pc:sldMk cId="161218210" sldId="281"/>
        </pc:sldMkLst>
        <pc:spChg chg="add mod">
          <ac:chgData name="Battmann Wann" userId="de228b634143938e" providerId="LiveId" clId="{3A13AA86-EDA2-4C22-A8C9-DB3AB5867196}" dt="2026-03-23T15:35:34.003" v="13444" actId="21"/>
          <ac:spMkLst>
            <pc:docMk/>
            <pc:sldMk cId="161218210" sldId="281"/>
            <ac:spMk id="4" creationId="{4AB80B26-C551-B002-4EA6-76033197B4A8}"/>
          </ac:spMkLst>
        </pc:spChg>
        <pc:spChg chg="mod">
          <ac:chgData name="Battmann Wann" userId="de228b634143938e" providerId="LiveId" clId="{3A13AA86-EDA2-4C22-A8C9-DB3AB5867196}" dt="2026-03-23T15:35:49.653" v="13447" actId="20577"/>
          <ac:spMkLst>
            <pc:docMk/>
            <pc:sldMk cId="161218210" sldId="281"/>
            <ac:spMk id="9" creationId="{A0AE5667-C296-985D-DFCD-BE1B6754FACD}"/>
          </ac:spMkLst>
        </pc:spChg>
        <pc:spChg chg="add mod">
          <ac:chgData name="Battmann Wann" userId="de228b634143938e" providerId="LiveId" clId="{3A13AA86-EDA2-4C22-A8C9-DB3AB5867196}" dt="2026-03-23T15:34:53.192" v="13436"/>
          <ac:spMkLst>
            <pc:docMk/>
            <pc:sldMk cId="161218210" sldId="281"/>
            <ac:spMk id="12" creationId="{866E27A8-C7BC-2809-9C1A-913F122C7618}"/>
          </ac:spMkLst>
        </pc:spChg>
        <pc:spChg chg="add mod">
          <ac:chgData name="Battmann Wann" userId="de228b634143938e" providerId="LiveId" clId="{3A13AA86-EDA2-4C22-A8C9-DB3AB5867196}" dt="2026-03-23T15:34:53.192" v="13436"/>
          <ac:spMkLst>
            <pc:docMk/>
            <pc:sldMk cId="161218210" sldId="281"/>
            <ac:spMk id="13" creationId="{914B8C34-B16B-8286-6B2C-57C443DB4358}"/>
          </ac:spMkLst>
        </pc:spChg>
      </pc:sldChg>
      <pc:sldChg chg="modSp add mod">
        <pc:chgData name="Battmann Wann" userId="de228b634143938e" providerId="LiveId" clId="{3A13AA86-EDA2-4C22-A8C9-DB3AB5867196}" dt="2026-03-23T15:43:47.618" v="14132" actId="20577"/>
        <pc:sldMkLst>
          <pc:docMk/>
          <pc:sldMk cId="4127748172" sldId="282"/>
        </pc:sldMkLst>
        <pc:spChg chg="mod">
          <ac:chgData name="Battmann Wann" userId="de228b634143938e" providerId="LiveId" clId="{3A13AA86-EDA2-4C22-A8C9-DB3AB5867196}" dt="2026-03-23T15:43:47.618" v="14132" actId="20577"/>
          <ac:spMkLst>
            <pc:docMk/>
            <pc:sldMk cId="4127748172" sldId="282"/>
            <ac:spMk id="3" creationId="{03E3E845-9B78-076B-87DB-836CBC5798D6}"/>
          </ac:spMkLst>
        </pc:spChg>
      </pc:sldChg>
      <pc:sldChg chg="addSp delSp modSp add mod ord modNotesTx">
        <pc:chgData name="Battmann Wann" userId="de228b634143938e" providerId="LiveId" clId="{3A13AA86-EDA2-4C22-A8C9-DB3AB5867196}" dt="2026-03-23T16:12:33.534" v="16163" actId="20577"/>
        <pc:sldMkLst>
          <pc:docMk/>
          <pc:sldMk cId="1803640531" sldId="283"/>
        </pc:sldMkLst>
        <pc:spChg chg="mod">
          <ac:chgData name="Battmann Wann" userId="de228b634143938e" providerId="LiveId" clId="{3A13AA86-EDA2-4C22-A8C9-DB3AB5867196}" dt="2026-03-23T16:08:07.625" v="15695" actId="20577"/>
          <ac:spMkLst>
            <pc:docMk/>
            <pc:sldMk cId="1803640531" sldId="283"/>
            <ac:spMk id="2" creationId="{3B73F5A9-18A5-715B-46F0-F4F65E68E0E8}"/>
          </ac:spMkLst>
        </pc:spChg>
        <pc:spChg chg="add mod">
          <ac:chgData name="Battmann Wann" userId="de228b634143938e" providerId="LiveId" clId="{3A13AA86-EDA2-4C22-A8C9-DB3AB5867196}" dt="2026-03-23T16:11:26.744" v="15842" actId="1076"/>
          <ac:spMkLst>
            <pc:docMk/>
            <pc:sldMk cId="1803640531" sldId="283"/>
            <ac:spMk id="15" creationId="{E39478D1-20F5-88FB-9BC3-DC519CD01116}"/>
          </ac:spMkLst>
        </pc:spChg>
        <pc:spChg chg="add mod">
          <ac:chgData name="Battmann Wann" userId="de228b634143938e" providerId="LiveId" clId="{3A13AA86-EDA2-4C22-A8C9-DB3AB5867196}" dt="2026-03-23T16:10:26.410" v="15771" actId="20577"/>
          <ac:spMkLst>
            <pc:docMk/>
            <pc:sldMk cId="1803640531" sldId="283"/>
            <ac:spMk id="16" creationId="{62189731-D611-18E5-3598-122A13583709}"/>
          </ac:spMkLst>
        </pc:spChg>
        <pc:spChg chg="add mod">
          <ac:chgData name="Battmann Wann" userId="de228b634143938e" providerId="LiveId" clId="{3A13AA86-EDA2-4C22-A8C9-DB3AB5867196}" dt="2026-03-23T16:10:41.524" v="15791" actId="1076"/>
          <ac:spMkLst>
            <pc:docMk/>
            <pc:sldMk cId="1803640531" sldId="283"/>
            <ac:spMk id="17" creationId="{C25DE699-6DB9-3913-4E3F-DD8DCD022E6E}"/>
          </ac:spMkLst>
        </pc:spChg>
        <pc:spChg chg="add mod">
          <ac:chgData name="Battmann Wann" userId="de228b634143938e" providerId="LiveId" clId="{3A13AA86-EDA2-4C22-A8C9-DB3AB5867196}" dt="2026-03-23T16:10:54.823" v="15813" actId="1076"/>
          <ac:spMkLst>
            <pc:docMk/>
            <pc:sldMk cId="1803640531" sldId="283"/>
            <ac:spMk id="18" creationId="{3F21B559-3F6D-3C2D-82A1-15BB2CEE3DA7}"/>
          </ac:spMkLst>
        </pc:spChg>
        <pc:spChg chg="add mod">
          <ac:chgData name="Battmann Wann" userId="de228b634143938e" providerId="LiveId" clId="{3A13AA86-EDA2-4C22-A8C9-DB3AB5867196}" dt="2026-03-23T16:11:09.510" v="15840" actId="14100"/>
          <ac:spMkLst>
            <pc:docMk/>
            <pc:sldMk cId="1803640531" sldId="283"/>
            <ac:spMk id="19" creationId="{ACFF53A7-4A48-00CD-2186-893DD226E7F1}"/>
          </ac:spMkLst>
        </pc:spChg>
        <pc:picChg chg="add mod">
          <ac:chgData name="Battmann Wann" userId="de228b634143938e" providerId="LiveId" clId="{3A13AA86-EDA2-4C22-A8C9-DB3AB5867196}" dt="2026-03-23T16:09:39.593" v="15729" actId="1076"/>
          <ac:picMkLst>
            <pc:docMk/>
            <pc:sldMk cId="1803640531" sldId="283"/>
            <ac:picMk id="6" creationId="{C29BA887-B9C6-0CE6-E771-0748126822C4}"/>
          </ac:picMkLst>
        </pc:picChg>
        <pc:picChg chg="add mod">
          <ac:chgData name="Battmann Wann" userId="de228b634143938e" providerId="LiveId" clId="{3A13AA86-EDA2-4C22-A8C9-DB3AB5867196}" dt="2026-03-23T16:09:37.709" v="15728" actId="1076"/>
          <ac:picMkLst>
            <pc:docMk/>
            <pc:sldMk cId="1803640531" sldId="283"/>
            <ac:picMk id="8" creationId="{C8B5ED3E-9743-D404-AAD9-8536599D8255}"/>
          </ac:picMkLst>
        </pc:picChg>
        <pc:picChg chg="add mod">
          <ac:chgData name="Battmann Wann" userId="de228b634143938e" providerId="LiveId" clId="{3A13AA86-EDA2-4C22-A8C9-DB3AB5867196}" dt="2026-03-23T16:09:42.736" v="15730" actId="1076"/>
          <ac:picMkLst>
            <pc:docMk/>
            <pc:sldMk cId="1803640531" sldId="283"/>
            <ac:picMk id="10" creationId="{6146A278-ECC1-5E8F-8798-AE61313A4AAD}"/>
          </ac:picMkLst>
        </pc:picChg>
        <pc:picChg chg="add mod">
          <ac:chgData name="Battmann Wann" userId="de228b634143938e" providerId="LiveId" clId="{3A13AA86-EDA2-4C22-A8C9-DB3AB5867196}" dt="2026-03-23T16:09:34.285" v="15727" actId="1076"/>
          <ac:picMkLst>
            <pc:docMk/>
            <pc:sldMk cId="1803640531" sldId="283"/>
            <ac:picMk id="12" creationId="{6583F443-436E-BB2A-BBE6-11D825126E3B}"/>
          </ac:picMkLst>
        </pc:picChg>
        <pc:picChg chg="add mod">
          <ac:chgData name="Battmann Wann" userId="de228b634143938e" providerId="LiveId" clId="{3A13AA86-EDA2-4C22-A8C9-DB3AB5867196}" dt="2026-03-23T16:11:22.375" v="15841" actId="1076"/>
          <ac:picMkLst>
            <pc:docMk/>
            <pc:sldMk cId="1803640531" sldId="283"/>
            <ac:picMk id="14" creationId="{6B246B88-2856-8E97-FB83-6ED65CC42485}"/>
          </ac:picMkLst>
        </pc:picChg>
      </pc:sldChg>
      <pc:sldChg chg="addSp delSp modSp add mod modAnim">
        <pc:chgData name="Battmann Wann" userId="de228b634143938e" providerId="LiveId" clId="{3A13AA86-EDA2-4C22-A8C9-DB3AB5867196}" dt="2026-03-26T08:59:02.035" v="16646" actId="14100"/>
        <pc:sldMkLst>
          <pc:docMk/>
          <pc:sldMk cId="893259333" sldId="284"/>
        </pc:sldMkLst>
        <pc:spChg chg="mod">
          <ac:chgData name="Battmann Wann" userId="de228b634143938e" providerId="LiveId" clId="{3A13AA86-EDA2-4C22-A8C9-DB3AB5867196}" dt="2026-03-23T18:10:58.337" v="16369" actId="20577"/>
          <ac:spMkLst>
            <pc:docMk/>
            <pc:sldMk cId="893259333" sldId="284"/>
            <ac:spMk id="2" creationId="{69E06658-B277-C29E-01DD-F1D18D695D36}"/>
          </ac:spMkLst>
        </pc:spChg>
        <pc:spChg chg="add mod">
          <ac:chgData name="Battmann Wann" userId="de228b634143938e" providerId="LiveId" clId="{3A13AA86-EDA2-4C22-A8C9-DB3AB5867196}" dt="2026-03-26T08:58:11.973" v="16617" actId="1076"/>
          <ac:spMkLst>
            <pc:docMk/>
            <pc:sldMk cId="893259333" sldId="284"/>
            <ac:spMk id="6" creationId="{F146CDA2-45E1-2171-F596-04D3B45B0EE4}"/>
          </ac:spMkLst>
        </pc:spChg>
        <pc:spChg chg="add mod">
          <ac:chgData name="Battmann Wann" userId="de228b634143938e" providerId="LiveId" clId="{3A13AA86-EDA2-4C22-A8C9-DB3AB5867196}" dt="2026-03-26T08:58:54.974" v="16645" actId="20577"/>
          <ac:spMkLst>
            <pc:docMk/>
            <pc:sldMk cId="893259333" sldId="284"/>
            <ac:spMk id="9" creationId="{AD9E714B-B630-0860-708D-B7F6BD804149}"/>
          </ac:spMkLst>
        </pc:spChg>
        <pc:picChg chg="add mod">
          <ac:chgData name="Battmann Wann" userId="de228b634143938e" providerId="LiveId" clId="{3A13AA86-EDA2-4C22-A8C9-DB3AB5867196}" dt="2026-03-26T08:58:05.450" v="16616" actId="1076"/>
          <ac:picMkLst>
            <pc:docMk/>
            <pc:sldMk cId="893259333" sldId="284"/>
            <ac:picMk id="5" creationId="{358EBCE7-8955-3E2C-BE75-8F4719072C2A}"/>
          </ac:picMkLst>
        </pc:picChg>
        <pc:picChg chg="add del mod">
          <ac:chgData name="Battmann Wann" userId="de228b634143938e" providerId="LiveId" clId="{3A13AA86-EDA2-4C22-A8C9-DB3AB5867196}" dt="2026-03-26T08:55:46.638" v="16461" actId="478"/>
          <ac:picMkLst>
            <pc:docMk/>
            <pc:sldMk cId="893259333" sldId="284"/>
            <ac:picMk id="7" creationId="{3F73C8E9-6F2A-937E-AF2A-644344E0FA9D}"/>
          </ac:picMkLst>
        </pc:picChg>
        <pc:picChg chg="add mod">
          <ac:chgData name="Battmann Wann" userId="de228b634143938e" providerId="LiveId" clId="{3A13AA86-EDA2-4C22-A8C9-DB3AB5867196}" dt="2026-03-26T08:59:02.035" v="16646" actId="14100"/>
          <ac:picMkLst>
            <pc:docMk/>
            <pc:sldMk cId="893259333" sldId="284"/>
            <ac:picMk id="8" creationId="{22B85FCC-92C0-DED5-CCEE-AE5FD66E143B}"/>
          </ac:picMkLst>
        </pc:picChg>
      </pc:sldChg>
      <pc:sldChg chg="delSp modSp add mod delAnim modNotesTx">
        <pc:chgData name="Battmann Wann" userId="de228b634143938e" providerId="LiveId" clId="{3A13AA86-EDA2-4C22-A8C9-DB3AB5867196}" dt="2026-03-26T08:57:21.152" v="16612" actId="20577"/>
        <pc:sldMkLst>
          <pc:docMk/>
          <pc:sldMk cId="3930663942" sldId="285"/>
        </pc:sldMkLst>
        <pc:spChg chg="mod">
          <ac:chgData name="Battmann Wann" userId="de228b634143938e" providerId="LiveId" clId="{3A13AA86-EDA2-4C22-A8C9-DB3AB5867196}" dt="2026-03-26T08:56:12.469" v="16466" actId="1076"/>
          <ac:spMkLst>
            <pc:docMk/>
            <pc:sldMk cId="3930663942" sldId="285"/>
            <ac:spMk id="2" creationId="{69E06658-B277-C29E-01DD-F1D18D695D36}"/>
          </ac:spMkLst>
        </pc:spChg>
        <pc:spChg chg="mod">
          <ac:chgData name="Battmann Wann" userId="de228b634143938e" providerId="LiveId" clId="{3A13AA86-EDA2-4C22-A8C9-DB3AB5867196}" dt="2026-03-26T08:56:22.094" v="16467" actId="14100"/>
          <ac:spMkLst>
            <pc:docMk/>
            <pc:sldMk cId="3930663942" sldId="285"/>
            <ac:spMk id="4" creationId="{DB05720F-B858-71DB-A046-FDEE258209D5}"/>
          </ac:spMkLst>
        </pc:spChg>
        <pc:spChg chg="del mod">
          <ac:chgData name="Battmann Wann" userId="de228b634143938e" providerId="LiveId" clId="{3A13AA86-EDA2-4C22-A8C9-DB3AB5867196}" dt="2026-03-26T08:56:31.788" v="16469" actId="478"/>
          <ac:spMkLst>
            <pc:docMk/>
            <pc:sldMk cId="3930663942" sldId="285"/>
            <ac:spMk id="6" creationId="{F146CDA2-45E1-2171-F596-04D3B45B0EE4}"/>
          </ac:spMkLst>
        </pc:spChg>
        <pc:picChg chg="del">
          <ac:chgData name="Battmann Wann" userId="de228b634143938e" providerId="LiveId" clId="{3A13AA86-EDA2-4C22-A8C9-DB3AB5867196}" dt="2026-03-26T08:55:49.588" v="16462" actId="478"/>
          <ac:picMkLst>
            <pc:docMk/>
            <pc:sldMk cId="3930663942" sldId="285"/>
            <ac:picMk id="5" creationId="{358EBCE7-8955-3E2C-BE75-8F4719072C2A}"/>
          </ac:picMkLst>
        </pc:picChg>
        <pc:picChg chg="mod">
          <ac:chgData name="Battmann Wann" userId="de228b634143938e" providerId="LiveId" clId="{3A13AA86-EDA2-4C22-A8C9-DB3AB5867196}" dt="2026-03-26T08:55:59.751" v="16463" actId="1076"/>
          <ac:picMkLst>
            <pc:docMk/>
            <pc:sldMk cId="3930663942" sldId="285"/>
            <ac:picMk id="7" creationId="{3F73C8E9-6F2A-937E-AF2A-644344E0FA9D}"/>
          </ac:picMkLst>
        </pc:picChg>
      </pc:sldChg>
    </pc:docChg>
  </pc:docChgLst>
  <pc:docChgLst>
    <pc:chgData name="Battmann Wann" userId="de228b634143938e" providerId="LiveId" clId="{286BEB7A-820B-48F1-B1C8-4347CBEAFF08}"/>
    <pc:docChg chg="custSel addSld modSld">
      <pc:chgData name="Battmann Wann" userId="de228b634143938e" providerId="LiveId" clId="{286BEB7A-820B-48F1-B1C8-4347CBEAFF08}" dt="2026-03-22T16:19:40.171" v="265" actId="114"/>
      <pc:docMkLst>
        <pc:docMk/>
      </pc:docMkLst>
      <pc:sldChg chg="addSp modSp mod">
        <pc:chgData name="Battmann Wann" userId="de228b634143938e" providerId="LiveId" clId="{286BEB7A-820B-48F1-B1C8-4347CBEAFF08}" dt="2026-03-22T15:32:36.746" v="54" actId="1076"/>
        <pc:sldMkLst>
          <pc:docMk/>
          <pc:sldMk cId="593998758" sldId="256"/>
        </pc:sldMkLst>
        <pc:spChg chg="mod">
          <ac:chgData name="Battmann Wann" userId="de228b634143938e" providerId="LiveId" clId="{286BEB7A-820B-48F1-B1C8-4347CBEAFF08}" dt="2026-03-22T15:32:33.818" v="53" actId="1076"/>
          <ac:spMkLst>
            <pc:docMk/>
            <pc:sldMk cId="593998758" sldId="256"/>
            <ac:spMk id="2" creationId="{DC1A0E2F-56DE-DCB6-38E0-E2FB967D98AB}"/>
          </ac:spMkLst>
        </pc:spChg>
        <pc:spChg chg="mod">
          <ac:chgData name="Battmann Wann" userId="de228b634143938e" providerId="LiveId" clId="{286BEB7A-820B-48F1-B1C8-4347CBEAFF08}" dt="2026-03-22T15:32:36.746" v="54" actId="1076"/>
          <ac:spMkLst>
            <pc:docMk/>
            <pc:sldMk cId="593998758" sldId="256"/>
            <ac:spMk id="3" creationId="{503FF60E-2120-99FB-98D8-8CFA43F45319}"/>
          </ac:spMkLst>
        </pc:spChg>
      </pc:sldChg>
      <pc:sldChg chg="modSp new mod">
        <pc:chgData name="Battmann Wann" userId="de228b634143938e" providerId="LiveId" clId="{286BEB7A-820B-48F1-B1C8-4347CBEAFF08}" dt="2026-03-22T16:19:40.171" v="265" actId="114"/>
        <pc:sldMkLst>
          <pc:docMk/>
          <pc:sldMk cId="2391996580" sldId="257"/>
        </pc:sldMkLst>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F75294-6BD4-42E1-8D33-BAE198F96CBD}" type="doc">
      <dgm:prSet loTypeId="urn:microsoft.com/office/officeart/2018/2/layout/IconCircleList" loCatId="icon" qsTypeId="urn:microsoft.com/office/officeart/2005/8/quickstyle/simple1#1" qsCatId="simple" csTypeId="urn:microsoft.com/office/officeart/2005/8/colors/accent1_2#1" csCatId="accent1" phldr="1"/>
      <dgm:spPr/>
      <dgm:t>
        <a:bodyPr/>
        <a:lstStyle/>
        <a:p>
          <a:endParaRPr lang="en-US"/>
        </a:p>
      </dgm:t>
    </dgm:pt>
    <dgm:pt modelId="{E9AEDC5D-63C3-43A2-B029-1172C31FECF9}">
      <dgm:prSet/>
      <dgm:spPr/>
      <dgm:t>
        <a:bodyPr/>
        <a:lstStyle/>
        <a:p>
          <a:pPr>
            <a:lnSpc>
              <a:spcPct val="100000"/>
            </a:lnSpc>
          </a:pPr>
          <a:r>
            <a:rPr lang="en-GB" dirty="0"/>
            <a:t>Core Question: </a:t>
          </a:r>
          <a:r>
            <a:rPr lang="en-GB" b="1" i="1" dirty="0"/>
            <a:t>Does an active visual sensor significantly improve task performance in 3D environments?</a:t>
          </a:r>
          <a:endParaRPr lang="en-US" dirty="0"/>
        </a:p>
      </dgm:t>
    </dgm:pt>
    <dgm:pt modelId="{7FD49F09-1C01-4A1A-A39B-1B8D0B989B1A}" type="parTrans" cxnId="{88E8D04F-1045-4AD9-B081-8DFF906FCC61}">
      <dgm:prSet/>
      <dgm:spPr/>
      <dgm:t>
        <a:bodyPr/>
        <a:lstStyle/>
        <a:p>
          <a:endParaRPr lang="en-US"/>
        </a:p>
      </dgm:t>
    </dgm:pt>
    <dgm:pt modelId="{FECFB3A6-98CD-4746-8AF9-1B6E60622ECF}" type="sibTrans" cxnId="{88E8D04F-1045-4AD9-B081-8DFF906FCC61}">
      <dgm:prSet/>
      <dgm:spPr/>
      <dgm:t>
        <a:bodyPr/>
        <a:lstStyle/>
        <a:p>
          <a:pPr>
            <a:lnSpc>
              <a:spcPct val="100000"/>
            </a:lnSpc>
          </a:pPr>
          <a:endParaRPr lang="en-US"/>
        </a:p>
      </dgm:t>
    </dgm:pt>
    <dgm:pt modelId="{41CC3D48-4EF2-4C87-9213-579CA839C8F0}">
      <dgm:prSet/>
      <dgm:spPr/>
      <dgm:t>
        <a:bodyPr/>
        <a:lstStyle/>
        <a:p>
          <a:pPr>
            <a:lnSpc>
              <a:spcPct val="100000"/>
            </a:lnSpc>
          </a:pPr>
          <a:r>
            <a:rPr lang="en-GB" b="1" i="1"/>
            <a:t>Why?</a:t>
          </a:r>
          <a:r>
            <a:rPr lang="en-GB" i="1"/>
            <a:t> </a:t>
          </a:r>
          <a:r>
            <a:rPr lang="en-GB"/>
            <a:t>Modern day fabrication and technologies are increasingly funnelling developments into robotics</a:t>
          </a:r>
          <a:endParaRPr lang="en-US"/>
        </a:p>
      </dgm:t>
    </dgm:pt>
    <dgm:pt modelId="{B92611D2-DDDF-4A37-8CCB-D566021B9F87}" type="parTrans" cxnId="{98DF994B-B9A2-4ACB-BC6E-DBC80906A684}">
      <dgm:prSet/>
      <dgm:spPr/>
      <dgm:t>
        <a:bodyPr/>
        <a:lstStyle/>
        <a:p>
          <a:endParaRPr lang="en-US"/>
        </a:p>
      </dgm:t>
    </dgm:pt>
    <dgm:pt modelId="{2CB9E75C-4EC3-4386-B181-849C8C8DFCFE}" type="sibTrans" cxnId="{98DF994B-B9A2-4ACB-BC6E-DBC80906A684}">
      <dgm:prSet/>
      <dgm:spPr/>
      <dgm:t>
        <a:bodyPr/>
        <a:lstStyle/>
        <a:p>
          <a:endParaRPr lang="en-US"/>
        </a:p>
      </dgm:t>
    </dgm:pt>
    <dgm:pt modelId="{F76E9B14-303C-4FB5-AE9F-746380852103}" type="pres">
      <dgm:prSet presAssocID="{7AF75294-6BD4-42E1-8D33-BAE198F96CBD}" presName="root" presStyleCnt="0">
        <dgm:presLayoutVars>
          <dgm:dir/>
          <dgm:resizeHandles val="exact"/>
        </dgm:presLayoutVars>
      </dgm:prSet>
      <dgm:spPr/>
    </dgm:pt>
    <dgm:pt modelId="{6F1D1407-79D6-4988-A400-D99B72D03C68}" type="pres">
      <dgm:prSet presAssocID="{7AF75294-6BD4-42E1-8D33-BAE198F96CBD}" presName="container" presStyleCnt="0">
        <dgm:presLayoutVars>
          <dgm:dir/>
          <dgm:resizeHandles val="exact"/>
        </dgm:presLayoutVars>
      </dgm:prSet>
      <dgm:spPr/>
    </dgm:pt>
    <dgm:pt modelId="{0FB68FDD-B295-484B-B09D-F6A559C5E9DE}" type="pres">
      <dgm:prSet presAssocID="{E9AEDC5D-63C3-43A2-B029-1172C31FECF9}" presName="compNode" presStyleCnt="0"/>
      <dgm:spPr/>
    </dgm:pt>
    <dgm:pt modelId="{63DC171F-D4B9-47A1-8DFB-48F2A75655A7}" type="pres">
      <dgm:prSet presAssocID="{E9AEDC5D-63C3-43A2-B029-1172C31FECF9}" presName="iconBgRect" presStyleLbl="bgShp" presStyleIdx="0" presStyleCnt="2"/>
      <dgm:spPr/>
    </dgm:pt>
    <dgm:pt modelId="{BB2283C1-8EA5-4B3C-A1A5-44283B95CCB5}" type="pres">
      <dgm:prSet presAssocID="{E9AEDC5D-63C3-43A2-B029-1172C31FECF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ick"/>
        </a:ext>
      </dgm:extLst>
    </dgm:pt>
    <dgm:pt modelId="{B09F47A3-9291-44C3-AE89-0F74DACF43CF}" type="pres">
      <dgm:prSet presAssocID="{E9AEDC5D-63C3-43A2-B029-1172C31FECF9}" presName="spaceRect" presStyleCnt="0"/>
      <dgm:spPr/>
    </dgm:pt>
    <dgm:pt modelId="{32B8FDA6-D269-46CF-955B-625CE0D22602}" type="pres">
      <dgm:prSet presAssocID="{E9AEDC5D-63C3-43A2-B029-1172C31FECF9}" presName="textRect" presStyleLbl="revTx" presStyleIdx="0" presStyleCnt="2">
        <dgm:presLayoutVars>
          <dgm:chMax val="1"/>
          <dgm:chPref val="1"/>
        </dgm:presLayoutVars>
      </dgm:prSet>
      <dgm:spPr/>
    </dgm:pt>
    <dgm:pt modelId="{9A1ACD9F-74BA-4704-9801-2C4F64C4D25A}" type="pres">
      <dgm:prSet presAssocID="{FECFB3A6-98CD-4746-8AF9-1B6E60622ECF}" presName="sibTrans" presStyleLbl="sibTrans2D1" presStyleIdx="0" presStyleCnt="0"/>
      <dgm:spPr/>
    </dgm:pt>
    <dgm:pt modelId="{5EFFEEBD-2AF5-4617-A8C2-219DB0B73E5A}" type="pres">
      <dgm:prSet presAssocID="{41CC3D48-4EF2-4C87-9213-579CA839C8F0}" presName="compNode" presStyleCnt="0"/>
      <dgm:spPr/>
    </dgm:pt>
    <dgm:pt modelId="{1A709682-05F1-494B-B53E-5CFB6E2DEB47}" type="pres">
      <dgm:prSet presAssocID="{41CC3D48-4EF2-4C87-9213-579CA839C8F0}" presName="iconBgRect" presStyleLbl="bgShp" presStyleIdx="1" presStyleCnt="2"/>
      <dgm:spPr/>
    </dgm:pt>
    <dgm:pt modelId="{08C67FEA-9BE4-4FC0-960B-B6385A27AE03}" type="pres">
      <dgm:prSet presAssocID="{41CC3D48-4EF2-4C87-9213-579CA839C8F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97BA7552-B250-4665-B8A8-5E67DB145700}" type="pres">
      <dgm:prSet presAssocID="{41CC3D48-4EF2-4C87-9213-579CA839C8F0}" presName="spaceRect" presStyleCnt="0"/>
      <dgm:spPr/>
    </dgm:pt>
    <dgm:pt modelId="{B3B415CB-F68B-42D2-BD12-B41D3F72CF9B}" type="pres">
      <dgm:prSet presAssocID="{41CC3D48-4EF2-4C87-9213-579CA839C8F0}" presName="textRect" presStyleLbl="revTx" presStyleIdx="1" presStyleCnt="2">
        <dgm:presLayoutVars>
          <dgm:chMax val="1"/>
          <dgm:chPref val="1"/>
        </dgm:presLayoutVars>
      </dgm:prSet>
      <dgm:spPr/>
    </dgm:pt>
  </dgm:ptLst>
  <dgm:cxnLst>
    <dgm:cxn modelId="{CA89F527-DF3C-4A45-93F2-CD661F221A5C}" type="presOf" srcId="{E9AEDC5D-63C3-43A2-B029-1172C31FECF9}" destId="{32B8FDA6-D269-46CF-955B-625CE0D22602}" srcOrd="0" destOrd="0" presId="urn:microsoft.com/office/officeart/2018/2/layout/IconCircleList"/>
    <dgm:cxn modelId="{966FD03F-9786-4AD0-B8A5-8BE05AEA529B}" type="presOf" srcId="{7AF75294-6BD4-42E1-8D33-BAE198F96CBD}" destId="{F76E9B14-303C-4FB5-AE9F-746380852103}" srcOrd="0" destOrd="0" presId="urn:microsoft.com/office/officeart/2018/2/layout/IconCircleList"/>
    <dgm:cxn modelId="{98DF994B-B9A2-4ACB-BC6E-DBC80906A684}" srcId="{7AF75294-6BD4-42E1-8D33-BAE198F96CBD}" destId="{41CC3D48-4EF2-4C87-9213-579CA839C8F0}" srcOrd="1" destOrd="0" parTransId="{B92611D2-DDDF-4A37-8CCB-D566021B9F87}" sibTransId="{2CB9E75C-4EC3-4386-B181-849C8C8DFCFE}"/>
    <dgm:cxn modelId="{88E8D04F-1045-4AD9-B081-8DFF906FCC61}" srcId="{7AF75294-6BD4-42E1-8D33-BAE198F96CBD}" destId="{E9AEDC5D-63C3-43A2-B029-1172C31FECF9}" srcOrd="0" destOrd="0" parTransId="{7FD49F09-1C01-4A1A-A39B-1B8D0B989B1A}" sibTransId="{FECFB3A6-98CD-4746-8AF9-1B6E60622ECF}"/>
    <dgm:cxn modelId="{6B1C35CF-6468-4B7D-A85E-CCCFE199B0B4}" type="presOf" srcId="{41CC3D48-4EF2-4C87-9213-579CA839C8F0}" destId="{B3B415CB-F68B-42D2-BD12-B41D3F72CF9B}" srcOrd="0" destOrd="0" presId="urn:microsoft.com/office/officeart/2018/2/layout/IconCircleList"/>
    <dgm:cxn modelId="{432358FE-A68F-4083-977D-6EDB68A70F7F}" type="presOf" srcId="{FECFB3A6-98CD-4746-8AF9-1B6E60622ECF}" destId="{9A1ACD9F-74BA-4704-9801-2C4F64C4D25A}" srcOrd="0" destOrd="0" presId="urn:microsoft.com/office/officeart/2018/2/layout/IconCircleList"/>
    <dgm:cxn modelId="{F2AF2381-8A34-4510-8A1D-4C320F535CEB}" type="presParOf" srcId="{F76E9B14-303C-4FB5-AE9F-746380852103}" destId="{6F1D1407-79D6-4988-A400-D99B72D03C68}" srcOrd="0" destOrd="0" presId="urn:microsoft.com/office/officeart/2018/2/layout/IconCircleList"/>
    <dgm:cxn modelId="{8A6CFC43-008B-446F-A0A3-769D86C2BFE7}" type="presParOf" srcId="{6F1D1407-79D6-4988-A400-D99B72D03C68}" destId="{0FB68FDD-B295-484B-B09D-F6A559C5E9DE}" srcOrd="0" destOrd="0" presId="urn:microsoft.com/office/officeart/2018/2/layout/IconCircleList"/>
    <dgm:cxn modelId="{45D5C42E-992A-4897-BBDE-5E378D9BEED3}" type="presParOf" srcId="{0FB68FDD-B295-484B-B09D-F6A559C5E9DE}" destId="{63DC171F-D4B9-47A1-8DFB-48F2A75655A7}" srcOrd="0" destOrd="0" presId="urn:microsoft.com/office/officeart/2018/2/layout/IconCircleList"/>
    <dgm:cxn modelId="{2A79111A-33E0-4EF2-9E83-EE98F47A4B77}" type="presParOf" srcId="{0FB68FDD-B295-484B-B09D-F6A559C5E9DE}" destId="{BB2283C1-8EA5-4B3C-A1A5-44283B95CCB5}" srcOrd="1" destOrd="0" presId="urn:microsoft.com/office/officeart/2018/2/layout/IconCircleList"/>
    <dgm:cxn modelId="{EA0E28BB-C701-4849-9B55-920F3529A0AC}" type="presParOf" srcId="{0FB68FDD-B295-484B-B09D-F6A559C5E9DE}" destId="{B09F47A3-9291-44C3-AE89-0F74DACF43CF}" srcOrd="2" destOrd="0" presId="urn:microsoft.com/office/officeart/2018/2/layout/IconCircleList"/>
    <dgm:cxn modelId="{AFAD3887-52B2-4C58-B30D-CACB8D39A068}" type="presParOf" srcId="{0FB68FDD-B295-484B-B09D-F6A559C5E9DE}" destId="{32B8FDA6-D269-46CF-955B-625CE0D22602}" srcOrd="3" destOrd="0" presId="urn:microsoft.com/office/officeart/2018/2/layout/IconCircleList"/>
    <dgm:cxn modelId="{DD812396-5749-4A4C-B1C9-B838A879BDD3}" type="presParOf" srcId="{6F1D1407-79D6-4988-A400-D99B72D03C68}" destId="{9A1ACD9F-74BA-4704-9801-2C4F64C4D25A}" srcOrd="1" destOrd="0" presId="urn:microsoft.com/office/officeart/2018/2/layout/IconCircleList"/>
    <dgm:cxn modelId="{FDC09D90-664A-4A27-8416-452D4D26636B}" type="presParOf" srcId="{6F1D1407-79D6-4988-A400-D99B72D03C68}" destId="{5EFFEEBD-2AF5-4617-A8C2-219DB0B73E5A}" srcOrd="2" destOrd="0" presId="urn:microsoft.com/office/officeart/2018/2/layout/IconCircleList"/>
    <dgm:cxn modelId="{6F28C2B0-26E6-448D-BD96-EFBD9947DA7E}" type="presParOf" srcId="{5EFFEEBD-2AF5-4617-A8C2-219DB0B73E5A}" destId="{1A709682-05F1-494B-B53E-5CFB6E2DEB47}" srcOrd="0" destOrd="0" presId="urn:microsoft.com/office/officeart/2018/2/layout/IconCircleList"/>
    <dgm:cxn modelId="{F332DB9F-7B5A-4242-992C-7BAACCB0F972}" type="presParOf" srcId="{5EFFEEBD-2AF5-4617-A8C2-219DB0B73E5A}" destId="{08C67FEA-9BE4-4FC0-960B-B6385A27AE03}" srcOrd="1" destOrd="0" presId="urn:microsoft.com/office/officeart/2018/2/layout/IconCircleList"/>
    <dgm:cxn modelId="{91BC33E4-03CF-40F8-8ED7-BA970E7F6D6C}" type="presParOf" srcId="{5EFFEEBD-2AF5-4617-A8C2-219DB0B73E5A}" destId="{97BA7552-B250-4665-B8A8-5E67DB145700}" srcOrd="2" destOrd="0" presId="urn:microsoft.com/office/officeart/2018/2/layout/IconCircleList"/>
    <dgm:cxn modelId="{1A5AC934-3D53-4640-B721-C7F3384BF07C}" type="presParOf" srcId="{5EFFEEBD-2AF5-4617-A8C2-219DB0B73E5A}" destId="{B3B415CB-F68B-42D2-BD12-B41D3F72CF9B}"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DC171F-D4B9-47A1-8DFB-48F2A75655A7}">
      <dsp:nvSpPr>
        <dsp:cNvPr id="0" name=""/>
        <dsp:cNvSpPr/>
      </dsp:nvSpPr>
      <dsp:spPr>
        <a:xfrm>
          <a:off x="198425" y="2093766"/>
          <a:ext cx="1150055" cy="11500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2283C1-8EA5-4B3C-A1A5-44283B95CCB5}">
      <dsp:nvSpPr>
        <dsp:cNvPr id="0" name=""/>
        <dsp:cNvSpPr/>
      </dsp:nvSpPr>
      <dsp:spPr>
        <a:xfrm>
          <a:off x="439936" y="2335278"/>
          <a:ext cx="667031" cy="66703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B8FDA6-D269-46CF-955B-625CE0D22602}">
      <dsp:nvSpPr>
        <dsp:cNvPr id="0" name=""/>
        <dsp:cNvSpPr/>
      </dsp:nvSpPr>
      <dsp:spPr>
        <a:xfrm>
          <a:off x="1594920" y="2093766"/>
          <a:ext cx="2710844" cy="115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kern="1200" dirty="0"/>
            <a:t>Core Question: </a:t>
          </a:r>
          <a:r>
            <a:rPr lang="en-GB" sz="1500" b="1" i="1" kern="1200" dirty="0"/>
            <a:t>Does an active visual sensor significantly improve task performance in 3D environments?</a:t>
          </a:r>
          <a:endParaRPr lang="en-US" sz="1500" kern="1200" dirty="0"/>
        </a:p>
      </dsp:txBody>
      <dsp:txXfrm>
        <a:off x="1594920" y="2093766"/>
        <a:ext cx="2710844" cy="1150055"/>
      </dsp:txXfrm>
    </dsp:sp>
    <dsp:sp modelId="{1A709682-05F1-494B-B53E-5CFB6E2DEB47}">
      <dsp:nvSpPr>
        <dsp:cNvPr id="0" name=""/>
        <dsp:cNvSpPr/>
      </dsp:nvSpPr>
      <dsp:spPr>
        <a:xfrm>
          <a:off x="4778109" y="2093766"/>
          <a:ext cx="1150055" cy="11500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C67FEA-9BE4-4FC0-960B-B6385A27AE03}">
      <dsp:nvSpPr>
        <dsp:cNvPr id="0" name=""/>
        <dsp:cNvSpPr/>
      </dsp:nvSpPr>
      <dsp:spPr>
        <a:xfrm>
          <a:off x="5019620" y="2335278"/>
          <a:ext cx="667031" cy="66703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B415CB-F68B-42D2-BD12-B41D3F72CF9B}">
      <dsp:nvSpPr>
        <dsp:cNvPr id="0" name=""/>
        <dsp:cNvSpPr/>
      </dsp:nvSpPr>
      <dsp:spPr>
        <a:xfrm>
          <a:off x="6174604" y="2093766"/>
          <a:ext cx="2710844" cy="115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100000"/>
            </a:lnSpc>
            <a:spcBef>
              <a:spcPct val="0"/>
            </a:spcBef>
            <a:spcAft>
              <a:spcPct val="35000"/>
            </a:spcAft>
            <a:buNone/>
          </a:pPr>
          <a:r>
            <a:rPr lang="en-GB" sz="1500" b="1" i="1" kern="1200"/>
            <a:t>Why?</a:t>
          </a:r>
          <a:r>
            <a:rPr lang="en-GB" sz="1500" i="1" kern="1200"/>
            <a:t> </a:t>
          </a:r>
          <a:r>
            <a:rPr lang="en-GB" sz="1500" kern="1200"/>
            <a:t>Modern day fabrication and technologies are increasingly funnelling developments into robotics</a:t>
          </a:r>
          <a:endParaRPr lang="en-US" sz="1500" kern="1200"/>
        </a:p>
      </dsp:txBody>
      <dsp:txXfrm>
        <a:off x="6174604" y="2093766"/>
        <a:ext cx="2710844" cy="115005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3BADAF-074F-447E-9D0A-F5E997713A84}" type="datetimeFigureOut">
              <a:rPr lang="en-GB" smtClean="0"/>
              <a:t>21/09/2026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6A87A-FC7B-443D-8B50-EDB052029C9E}" type="slidenum">
              <a:rPr lang="en-GB" smtClean="0"/>
              <a:t>‹#›</a:t>
            </a:fld>
            <a:endParaRPr lang="en-GB"/>
          </a:p>
        </p:txBody>
      </p:sp>
    </p:spTree>
    <p:extLst>
      <p:ext uri="{BB962C8B-B14F-4D97-AF65-F5344CB8AC3E}">
        <p14:creationId xmlns:p14="http://schemas.microsoft.com/office/powerpoint/2010/main" val="1890270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D6A87A-FC7B-443D-8B50-EDB052029C9E}" type="slidenum">
              <a:rPr lang="en-GB" smtClean="0"/>
              <a:t>1</a:t>
            </a:fld>
            <a:endParaRPr lang="en-GB"/>
          </a:p>
        </p:txBody>
      </p:sp>
    </p:spTree>
    <p:extLst>
      <p:ext uri="{BB962C8B-B14F-4D97-AF65-F5344CB8AC3E}">
        <p14:creationId xmlns:p14="http://schemas.microsoft.com/office/powerpoint/2010/main" val="80018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Good afternoon, everyone. My name is Rhys Stewart, and today I'll be presenting my Honours project, which investigates the effects of active vision on Reinforcement Learning models. In essence, I wanted to answer a fundamental question: if we stop giving AI models a perfect, static view of the world and instead force them to actively move a camera to see their environment, do they perform better?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why should be care? In this modern day and age, with the rapid developments and capabilities of AI models, robotics has seen an interest boom, especially in the field of fabrication and autonomous, self-driving cars. To ensure that these applications function well, safety and well-established programmes are paramount. However, with the integration of AI, the field of robotics has seen a setback in terms of robotic capabilities, with further research required before mass integration into society will be seen. </a:t>
            </a:r>
          </a:p>
          <a:p>
            <a:endParaRPr lang="en-GB" dirty="0"/>
          </a:p>
        </p:txBody>
      </p:sp>
      <p:sp>
        <p:nvSpPr>
          <p:cNvPr id="4" name="Slide Number Placeholder 3"/>
          <p:cNvSpPr>
            <a:spLocks noGrp="1"/>
          </p:cNvSpPr>
          <p:nvPr>
            <p:ph type="sldNum" sz="quarter" idx="5"/>
          </p:nvPr>
        </p:nvSpPr>
        <p:spPr/>
        <p:txBody>
          <a:bodyPr/>
          <a:lstStyle/>
          <a:p>
            <a:fld id="{6FD6A87A-FC7B-443D-8B50-EDB052029C9E}" type="slidenum">
              <a:rPr lang="en-GB" smtClean="0"/>
              <a:t>2</a:t>
            </a:fld>
            <a:endParaRPr lang="en-GB"/>
          </a:p>
        </p:txBody>
      </p:sp>
    </p:spTree>
    <p:extLst>
      <p:ext uri="{BB962C8B-B14F-4D97-AF65-F5344CB8AC3E}">
        <p14:creationId xmlns:p14="http://schemas.microsoft.com/office/powerpoint/2010/main" val="3136185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F633D-90DC-7A69-D67B-84A4995D2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C3C59-C652-9D32-9285-6943CB32FA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618197F-3251-2E3C-8AF4-49377D151A07}"/>
              </a:ext>
            </a:extLst>
          </p:cNvPr>
          <p:cNvSpPr>
            <a:spLocks noGrp="1"/>
          </p:cNvSpPr>
          <p:nvPr>
            <p:ph type="body" idx="1"/>
          </p:nvPr>
        </p:nvSpPr>
        <p:spPr/>
        <p:txBody>
          <a:bodyPr/>
          <a:lstStyle/>
          <a:p>
            <a:r>
              <a:rPr lang="en-GB" dirty="0"/>
              <a:t>To understand further as to why this project is necessary, we have to look at the limitations of standard computer vision. Traditionally, we used a ‘passive vision’ approach, feeding a full, static, FIXED FOV image into a CNN. For autonomous agents, like robots or self-driving cars, this is a major vulnerability. A fixed camera simply cannot look around an obstacle or dynamically track a moving target outside of its periphery. </a:t>
            </a:r>
          </a:p>
          <a:p>
            <a:endParaRPr lang="en-GB" dirty="0"/>
          </a:p>
          <a:p>
            <a:r>
              <a:rPr lang="en-GB" dirty="0"/>
              <a:t>The figure presented here shows an excellent example between these two different types of vision systems and why a static camera, when needed for dynamically exploring its environment, is insufficient. </a:t>
            </a:r>
          </a:p>
        </p:txBody>
      </p:sp>
      <p:sp>
        <p:nvSpPr>
          <p:cNvPr id="4" name="Slide Number Placeholder 3">
            <a:extLst>
              <a:ext uri="{FF2B5EF4-FFF2-40B4-BE49-F238E27FC236}">
                <a16:creationId xmlns:a16="http://schemas.microsoft.com/office/drawing/2014/main" id="{29AB9177-4517-9FC2-0E48-4C076C79336F}"/>
              </a:ext>
            </a:extLst>
          </p:cNvPr>
          <p:cNvSpPr>
            <a:spLocks noGrp="1"/>
          </p:cNvSpPr>
          <p:nvPr>
            <p:ph type="sldNum" sz="quarter" idx="5"/>
          </p:nvPr>
        </p:nvSpPr>
        <p:spPr/>
        <p:txBody>
          <a:bodyPr/>
          <a:lstStyle/>
          <a:p>
            <a:fld id="{6FD6A87A-FC7B-443D-8B50-EDB052029C9E}" type="slidenum">
              <a:rPr lang="en-GB" smtClean="0"/>
              <a:t>3</a:t>
            </a:fld>
            <a:endParaRPr lang="en-GB"/>
          </a:p>
        </p:txBody>
      </p:sp>
    </p:spTree>
    <p:extLst>
      <p:ext uri="{BB962C8B-B14F-4D97-AF65-F5344CB8AC3E}">
        <p14:creationId xmlns:p14="http://schemas.microsoft.com/office/powerpoint/2010/main" val="10041526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So, what is the solution? Active vision, a concept inspired by human biology; the idea that an observer can solve visual problems much more efficiently if they can move their sensory apparatus – simply, turning your head to see something more clearly. To achieve the same effect, my project utilises DRL, which allows an agent to learn how to map raw pixel inputs directly to camera movements through trial and error – another mimicry of human learning behaviour.</a:t>
            </a:r>
          </a:p>
        </p:txBody>
      </p:sp>
      <p:sp>
        <p:nvSpPr>
          <p:cNvPr id="4" name="Slide Number Placeholder 3"/>
          <p:cNvSpPr>
            <a:spLocks noGrp="1"/>
          </p:cNvSpPr>
          <p:nvPr>
            <p:ph type="sldNum" sz="quarter" idx="5"/>
          </p:nvPr>
        </p:nvSpPr>
        <p:spPr/>
        <p:txBody>
          <a:bodyPr/>
          <a:lstStyle/>
          <a:p>
            <a:fld id="{6FD6A87A-FC7B-443D-8B50-EDB052029C9E}" type="slidenum">
              <a:rPr lang="en-GB" smtClean="0"/>
              <a:t>4</a:t>
            </a:fld>
            <a:endParaRPr lang="en-GB"/>
          </a:p>
        </p:txBody>
      </p:sp>
    </p:spTree>
    <p:extLst>
      <p:ext uri="{BB962C8B-B14F-4D97-AF65-F5344CB8AC3E}">
        <p14:creationId xmlns:p14="http://schemas.microsoft.com/office/powerpoint/2010/main" val="20707531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E53E4-0483-AC95-2A3F-6F24C819B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AC6B6-F7D1-B04C-9CB0-53E6E66F49F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569C623-0242-A1BC-39EF-4D5405402C50}"/>
              </a:ext>
            </a:extLst>
          </p:cNvPr>
          <p:cNvSpPr>
            <a:spLocks noGrp="1"/>
          </p:cNvSpPr>
          <p:nvPr>
            <p:ph type="body" idx="1"/>
          </p:nvPr>
        </p:nvSpPr>
        <p:spPr/>
        <p:txBody>
          <a:bodyPr/>
          <a:lstStyle/>
          <a:p>
            <a:r>
              <a:rPr lang="en-GB" dirty="0"/>
              <a:t>Using our framework, how do we then force an agent to look around? To achieve this, introduced was an informational bottleneck. For the active vision model, I forced a centre-crop of the screen (of varying reduction sizes, all the way down to just 1% of the original screen) and then rescaled it back up to the original image size. This is a crucial methodological control: both the baseline and the active agent have the exact same sized neural network. Because the active agent’s vision is constrained, it literally is forced to pan its camera to build a panoramic understanding of its environment. This is illustrated more clearly on the following slide:</a:t>
            </a:r>
          </a:p>
        </p:txBody>
      </p:sp>
      <p:sp>
        <p:nvSpPr>
          <p:cNvPr id="4" name="Slide Number Placeholder 3">
            <a:extLst>
              <a:ext uri="{FF2B5EF4-FFF2-40B4-BE49-F238E27FC236}">
                <a16:creationId xmlns:a16="http://schemas.microsoft.com/office/drawing/2014/main" id="{7222F3ED-B8D7-9000-D8FC-EC38F8D15E61}"/>
              </a:ext>
            </a:extLst>
          </p:cNvPr>
          <p:cNvSpPr>
            <a:spLocks noGrp="1"/>
          </p:cNvSpPr>
          <p:nvPr>
            <p:ph type="sldNum" sz="quarter" idx="5"/>
          </p:nvPr>
        </p:nvSpPr>
        <p:spPr/>
        <p:txBody>
          <a:bodyPr/>
          <a:lstStyle/>
          <a:p>
            <a:fld id="{6FD6A87A-FC7B-443D-8B50-EDB052029C9E}" type="slidenum">
              <a:rPr lang="en-GB" smtClean="0"/>
              <a:t>5</a:t>
            </a:fld>
            <a:endParaRPr lang="en-GB"/>
          </a:p>
        </p:txBody>
      </p:sp>
    </p:spTree>
    <p:extLst>
      <p:ext uri="{BB962C8B-B14F-4D97-AF65-F5344CB8AC3E}">
        <p14:creationId xmlns:p14="http://schemas.microsoft.com/office/powerpoint/2010/main" val="3081596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3088D-7E01-E614-69F0-6018B823A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6BC37-9F3D-6AC2-682E-808B497A6B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70EF289-8104-9225-5BEE-327AD8028C9F}"/>
              </a:ext>
            </a:extLst>
          </p:cNvPr>
          <p:cNvSpPr>
            <a:spLocks noGrp="1"/>
          </p:cNvSpPr>
          <p:nvPr>
            <p:ph type="body" idx="1"/>
          </p:nvPr>
        </p:nvSpPr>
        <p:spPr/>
        <p:txBody>
          <a:bodyPr/>
          <a:lstStyle/>
          <a:p>
            <a:r>
              <a:rPr lang="en-GB" dirty="0"/>
              <a:t>This slide details the specific reduction factors that I had placed onto the screen buffer fed into the agent’s architecture. Investigated were No reduction, 80% of the image retained, 60%, 40%, … down to just 1%. Now, this image begins as a much larger size, for illustration purposes</a:t>
            </a:r>
          </a:p>
        </p:txBody>
      </p:sp>
      <p:sp>
        <p:nvSpPr>
          <p:cNvPr id="4" name="Slide Number Placeholder 3">
            <a:extLst>
              <a:ext uri="{FF2B5EF4-FFF2-40B4-BE49-F238E27FC236}">
                <a16:creationId xmlns:a16="http://schemas.microsoft.com/office/drawing/2014/main" id="{07442204-0321-A679-6FAE-34FA9D793388}"/>
              </a:ext>
            </a:extLst>
          </p:cNvPr>
          <p:cNvSpPr>
            <a:spLocks noGrp="1"/>
          </p:cNvSpPr>
          <p:nvPr>
            <p:ph type="sldNum" sz="quarter" idx="5"/>
          </p:nvPr>
        </p:nvSpPr>
        <p:spPr/>
        <p:txBody>
          <a:bodyPr/>
          <a:lstStyle/>
          <a:p>
            <a:fld id="{6FD6A87A-FC7B-443D-8B50-EDB052029C9E}" type="slidenum">
              <a:rPr lang="en-GB" smtClean="0"/>
              <a:t>6</a:t>
            </a:fld>
            <a:endParaRPr lang="en-GB"/>
          </a:p>
        </p:txBody>
      </p:sp>
    </p:spTree>
    <p:extLst>
      <p:ext uri="{BB962C8B-B14F-4D97-AF65-F5344CB8AC3E}">
        <p14:creationId xmlns:p14="http://schemas.microsoft.com/office/powerpoint/2010/main" val="3293133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82D4B-B45C-2400-2D41-67FC4D16F2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8BACD-F8EC-7E39-3089-3AB777EA2B1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9B6A5A1-9FF3-3AB3-46C1-AC5D24BF6B66}"/>
              </a:ext>
            </a:extLst>
          </p:cNvPr>
          <p:cNvSpPr>
            <a:spLocks noGrp="1"/>
          </p:cNvSpPr>
          <p:nvPr>
            <p:ph type="body" idx="1"/>
          </p:nvPr>
        </p:nvSpPr>
        <p:spPr/>
        <p:txBody>
          <a:bodyPr/>
          <a:lstStyle/>
          <a:p>
            <a:r>
              <a:rPr lang="en-GB" dirty="0"/>
              <a:t>This figure provides a more 1:1 visualisation towards that of what the agent sees. These reductions mean that at 1%, all the model is provided with is a single pixel.</a:t>
            </a:r>
          </a:p>
        </p:txBody>
      </p:sp>
      <p:sp>
        <p:nvSpPr>
          <p:cNvPr id="4" name="Slide Number Placeholder 3">
            <a:extLst>
              <a:ext uri="{FF2B5EF4-FFF2-40B4-BE49-F238E27FC236}">
                <a16:creationId xmlns:a16="http://schemas.microsoft.com/office/drawing/2014/main" id="{3DD50A03-1FF4-562D-2EDC-AB8CD5EAC58C}"/>
              </a:ext>
            </a:extLst>
          </p:cNvPr>
          <p:cNvSpPr>
            <a:spLocks noGrp="1"/>
          </p:cNvSpPr>
          <p:nvPr>
            <p:ph type="sldNum" sz="quarter" idx="5"/>
          </p:nvPr>
        </p:nvSpPr>
        <p:spPr/>
        <p:txBody>
          <a:bodyPr/>
          <a:lstStyle/>
          <a:p>
            <a:fld id="{6FD6A87A-FC7B-443D-8B50-EDB052029C9E}" type="slidenum">
              <a:rPr lang="en-GB" smtClean="0"/>
              <a:t>7</a:t>
            </a:fld>
            <a:endParaRPr lang="en-GB"/>
          </a:p>
        </p:txBody>
      </p:sp>
    </p:spTree>
    <p:extLst>
      <p:ext uri="{BB962C8B-B14F-4D97-AF65-F5344CB8AC3E}">
        <p14:creationId xmlns:p14="http://schemas.microsoft.com/office/powerpoint/2010/main" val="1619034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8951-3DBA-164F-8C23-E12888C58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EA92C-12D3-F906-6339-C8C20B94121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25851C4-0FC4-36EE-F442-DC010A513627}"/>
              </a:ext>
            </a:extLst>
          </p:cNvPr>
          <p:cNvSpPr>
            <a:spLocks noGrp="1"/>
          </p:cNvSpPr>
          <p:nvPr>
            <p:ph type="body" idx="1"/>
          </p:nvPr>
        </p:nvSpPr>
        <p:spPr/>
        <p:txBody>
          <a:bodyPr/>
          <a:lstStyle/>
          <a:p>
            <a:r>
              <a:rPr lang="en-GB" dirty="0"/>
              <a:t>This slide illustrates why the agent would have to move its visual sensor in order to locate the cacodemon in heavily reduced FOVs</a:t>
            </a:r>
          </a:p>
        </p:txBody>
      </p:sp>
      <p:sp>
        <p:nvSpPr>
          <p:cNvPr id="4" name="Slide Number Placeholder 3">
            <a:extLst>
              <a:ext uri="{FF2B5EF4-FFF2-40B4-BE49-F238E27FC236}">
                <a16:creationId xmlns:a16="http://schemas.microsoft.com/office/drawing/2014/main" id="{B0E80F6F-B9D3-354D-ACC4-A2C4D3EC4761}"/>
              </a:ext>
            </a:extLst>
          </p:cNvPr>
          <p:cNvSpPr>
            <a:spLocks noGrp="1"/>
          </p:cNvSpPr>
          <p:nvPr>
            <p:ph type="sldNum" sz="quarter" idx="5"/>
          </p:nvPr>
        </p:nvSpPr>
        <p:spPr/>
        <p:txBody>
          <a:bodyPr/>
          <a:lstStyle/>
          <a:p>
            <a:fld id="{6FD6A87A-FC7B-443D-8B50-EDB052029C9E}" type="slidenum">
              <a:rPr lang="en-GB" smtClean="0"/>
              <a:t>8</a:t>
            </a:fld>
            <a:endParaRPr lang="en-GB"/>
          </a:p>
        </p:txBody>
      </p:sp>
    </p:spTree>
    <p:extLst>
      <p:ext uri="{BB962C8B-B14F-4D97-AF65-F5344CB8AC3E}">
        <p14:creationId xmlns:p14="http://schemas.microsoft.com/office/powerpoint/2010/main" val="1355472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A8F2B-2559-E042-A980-193B3B665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8D90E-CFCF-3723-FDE2-D63BA8E5474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4724263-5C3C-6A21-F608-E2382DF277B5}"/>
              </a:ext>
            </a:extLst>
          </p:cNvPr>
          <p:cNvSpPr>
            <a:spLocks noGrp="1"/>
          </p:cNvSpPr>
          <p:nvPr>
            <p:ph type="body" idx="1"/>
          </p:nvPr>
        </p:nvSpPr>
        <p:spPr/>
        <p:txBody>
          <a:bodyPr/>
          <a:lstStyle/>
          <a:p>
            <a:r>
              <a:rPr lang="en-GB" dirty="0"/>
              <a:t>This figure provides a more 1:1 visualisation towards that of what the agent sees. These reductions mean that at 1%, all the model is provided with is a single pixel.</a:t>
            </a:r>
          </a:p>
        </p:txBody>
      </p:sp>
      <p:sp>
        <p:nvSpPr>
          <p:cNvPr id="4" name="Slide Number Placeholder 3">
            <a:extLst>
              <a:ext uri="{FF2B5EF4-FFF2-40B4-BE49-F238E27FC236}">
                <a16:creationId xmlns:a16="http://schemas.microsoft.com/office/drawing/2014/main" id="{DE1EA224-326D-C60B-4B2B-594D4661E4D8}"/>
              </a:ext>
            </a:extLst>
          </p:cNvPr>
          <p:cNvSpPr>
            <a:spLocks noGrp="1"/>
          </p:cNvSpPr>
          <p:nvPr>
            <p:ph type="sldNum" sz="quarter" idx="5"/>
          </p:nvPr>
        </p:nvSpPr>
        <p:spPr/>
        <p:txBody>
          <a:bodyPr/>
          <a:lstStyle/>
          <a:p>
            <a:fld id="{6FD6A87A-FC7B-443D-8B50-EDB052029C9E}" type="slidenum">
              <a:rPr lang="en-GB" smtClean="0"/>
              <a:t>9</a:t>
            </a:fld>
            <a:endParaRPr lang="en-GB"/>
          </a:p>
        </p:txBody>
      </p:sp>
    </p:spTree>
    <p:extLst>
      <p:ext uri="{BB962C8B-B14F-4D97-AF65-F5344CB8AC3E}">
        <p14:creationId xmlns:p14="http://schemas.microsoft.com/office/powerpoint/2010/main" val="3134035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E13D-A6C3-01E7-2EE5-B640EDFC7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111D2-4DE2-717B-02EA-0DF21AE9915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FAD848D-E627-6322-A320-EF68760E2AD2}"/>
              </a:ext>
            </a:extLst>
          </p:cNvPr>
          <p:cNvSpPr>
            <a:spLocks noGrp="1"/>
          </p:cNvSpPr>
          <p:nvPr>
            <p:ph type="body" idx="1"/>
          </p:nvPr>
        </p:nvSpPr>
        <p:spPr/>
        <p:txBody>
          <a:bodyPr/>
          <a:lstStyle/>
          <a:p>
            <a:r>
              <a:rPr lang="en-GB" dirty="0"/>
              <a:t>Now, Implementing this scenario came at the integration of three major technologies. </a:t>
            </a:r>
          </a:p>
          <a:p>
            <a:endParaRPr lang="en-GB" dirty="0"/>
          </a:p>
          <a:p>
            <a:pPr marL="228600" indent="-228600">
              <a:buAutoNum type="arabicPeriod"/>
            </a:pPr>
            <a:r>
              <a:rPr lang="en-GB" dirty="0"/>
              <a:t>ViZDoom as the 3D physics engine as it supports raw-pixel input. </a:t>
            </a:r>
          </a:p>
          <a:p>
            <a:pPr marL="228600" indent="-228600">
              <a:buAutoNum type="arabicPeriod"/>
            </a:pPr>
            <a:r>
              <a:rPr lang="en-GB" dirty="0"/>
              <a:t>The Gymnasium API to standardise the inputs and outputs, such that there were no discrepancies in how the underlying architecture was being handled</a:t>
            </a:r>
          </a:p>
          <a:p>
            <a:pPr marL="228600" indent="-228600">
              <a:buAutoNum type="arabicPeriod"/>
            </a:pPr>
            <a:r>
              <a:rPr lang="en-GB" dirty="0"/>
              <a:t>Finally, the agent’s “brain” is powered by the PPO architecture, provided by SB3</a:t>
            </a:r>
          </a:p>
          <a:p>
            <a:pPr marL="228600" indent="-228600">
              <a:buAutoNum type="arabicPeriod"/>
            </a:pPr>
            <a:endParaRPr lang="en-GB" dirty="0"/>
          </a:p>
          <a:p>
            <a:pPr marL="0" indent="0">
              <a:buNone/>
            </a:pPr>
            <a:r>
              <a:rPr lang="en-GB" dirty="0"/>
              <a:t>PPO was specifically chosen because its mathematical clipping operations prevents destructively large policy updates, ensuring stable training directly from pixels.</a:t>
            </a:r>
          </a:p>
        </p:txBody>
      </p:sp>
      <p:sp>
        <p:nvSpPr>
          <p:cNvPr id="4" name="Slide Number Placeholder 3">
            <a:extLst>
              <a:ext uri="{FF2B5EF4-FFF2-40B4-BE49-F238E27FC236}">
                <a16:creationId xmlns:a16="http://schemas.microsoft.com/office/drawing/2014/main" id="{008B2016-BEE9-F4B0-9089-ED9624B7634F}"/>
              </a:ext>
            </a:extLst>
          </p:cNvPr>
          <p:cNvSpPr>
            <a:spLocks noGrp="1"/>
          </p:cNvSpPr>
          <p:nvPr>
            <p:ph type="sldNum" sz="quarter" idx="5"/>
          </p:nvPr>
        </p:nvSpPr>
        <p:spPr/>
        <p:txBody>
          <a:bodyPr/>
          <a:lstStyle/>
          <a:p>
            <a:fld id="{6FD6A87A-FC7B-443D-8B50-EDB052029C9E}" type="slidenum">
              <a:rPr lang="en-GB" smtClean="0"/>
              <a:t>10</a:t>
            </a:fld>
            <a:endParaRPr lang="en-GB"/>
          </a:p>
        </p:txBody>
      </p:sp>
    </p:spTree>
    <p:extLst>
      <p:ext uri="{BB962C8B-B14F-4D97-AF65-F5344CB8AC3E}">
        <p14:creationId xmlns:p14="http://schemas.microsoft.com/office/powerpoint/2010/main" val="232756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E1614-4B83-984A-AEEF-F32A2AD6B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B2793-1061-5D02-C16C-C42C029356F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BFD4847-F902-5435-A29E-FFEC1ED19635}"/>
              </a:ext>
            </a:extLst>
          </p:cNvPr>
          <p:cNvSpPr>
            <a:spLocks noGrp="1"/>
          </p:cNvSpPr>
          <p:nvPr>
            <p:ph type="body" idx="1"/>
          </p:nvPr>
        </p:nvSpPr>
        <p:spPr/>
        <p:txBody>
          <a:bodyPr/>
          <a:lstStyle/>
          <a:p>
            <a:r>
              <a:rPr lang="en-GB" dirty="0"/>
              <a:t>The physical implementation came from the development of a custom scenario I have termed “Cacodemon Recognition”. The goal of this task is simple: “Locate the Cacodemon enemy and kill it”. To rigorously test this, an agent is independently exposed to three different levels. </a:t>
            </a:r>
          </a:p>
          <a:p>
            <a:endParaRPr lang="en-GB" dirty="0"/>
          </a:p>
        </p:txBody>
      </p:sp>
      <p:sp>
        <p:nvSpPr>
          <p:cNvPr id="4" name="Slide Number Placeholder 3">
            <a:extLst>
              <a:ext uri="{FF2B5EF4-FFF2-40B4-BE49-F238E27FC236}">
                <a16:creationId xmlns:a16="http://schemas.microsoft.com/office/drawing/2014/main" id="{EF43B436-972D-658A-FE53-4D596C3902A8}"/>
              </a:ext>
            </a:extLst>
          </p:cNvPr>
          <p:cNvSpPr>
            <a:spLocks noGrp="1"/>
          </p:cNvSpPr>
          <p:nvPr>
            <p:ph type="sldNum" sz="quarter" idx="5"/>
          </p:nvPr>
        </p:nvSpPr>
        <p:spPr/>
        <p:txBody>
          <a:bodyPr/>
          <a:lstStyle/>
          <a:p>
            <a:fld id="{6FD6A87A-FC7B-443D-8B50-EDB052029C9E}" type="slidenum">
              <a:rPr lang="en-GB" smtClean="0"/>
              <a:t>11</a:t>
            </a:fld>
            <a:endParaRPr lang="en-GB"/>
          </a:p>
        </p:txBody>
      </p:sp>
    </p:spTree>
    <p:extLst>
      <p:ext uri="{BB962C8B-B14F-4D97-AF65-F5344CB8AC3E}">
        <p14:creationId xmlns:p14="http://schemas.microsoft.com/office/powerpoint/2010/main" val="703221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3E5E6-243B-BF6D-AE60-D95DD1B43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5C76F-0009-EA87-1D7C-425F5D5E7AA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273AE7C-4147-A626-84A6-17547BBEC0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Level 1 is a sterile control room, where basic motor control learning is tested. This room features uniform wall and ceiling textures and a single cacodemon enemy placed randomly per episode</a:t>
            </a:r>
          </a:p>
          <a:p>
            <a:endParaRPr lang="en-GB" dirty="0"/>
          </a:p>
        </p:txBody>
      </p:sp>
      <p:sp>
        <p:nvSpPr>
          <p:cNvPr id="4" name="Slide Number Placeholder 3">
            <a:extLst>
              <a:ext uri="{FF2B5EF4-FFF2-40B4-BE49-F238E27FC236}">
                <a16:creationId xmlns:a16="http://schemas.microsoft.com/office/drawing/2014/main" id="{6E8E88B1-0DD0-E7A4-B3EC-024B6070A822}"/>
              </a:ext>
            </a:extLst>
          </p:cNvPr>
          <p:cNvSpPr>
            <a:spLocks noGrp="1"/>
          </p:cNvSpPr>
          <p:nvPr>
            <p:ph type="sldNum" sz="quarter" idx="5"/>
          </p:nvPr>
        </p:nvSpPr>
        <p:spPr/>
        <p:txBody>
          <a:bodyPr/>
          <a:lstStyle/>
          <a:p>
            <a:fld id="{6FD6A87A-FC7B-443D-8B50-EDB052029C9E}" type="slidenum">
              <a:rPr lang="en-GB" smtClean="0"/>
              <a:t>12</a:t>
            </a:fld>
            <a:endParaRPr lang="en-GB"/>
          </a:p>
        </p:txBody>
      </p:sp>
    </p:spTree>
    <p:extLst>
      <p:ext uri="{BB962C8B-B14F-4D97-AF65-F5344CB8AC3E}">
        <p14:creationId xmlns:p14="http://schemas.microsoft.com/office/powerpoint/2010/main" val="2456477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8DD7D-7573-6E0C-6776-371288B82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B77FC-0DD4-89D6-A055-2421D6180BC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5551D96-6085-E09F-457E-8E8752376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Level 2 is the same geometrically, now with the addition of torches placed around the map to add visual clutter and additional enemies to add task occlusion </a:t>
            </a:r>
          </a:p>
          <a:p>
            <a:endParaRPr lang="en-GB" dirty="0"/>
          </a:p>
        </p:txBody>
      </p:sp>
      <p:sp>
        <p:nvSpPr>
          <p:cNvPr id="4" name="Slide Number Placeholder 3">
            <a:extLst>
              <a:ext uri="{FF2B5EF4-FFF2-40B4-BE49-F238E27FC236}">
                <a16:creationId xmlns:a16="http://schemas.microsoft.com/office/drawing/2014/main" id="{2239820A-C81E-2F7A-E500-CC1DEE61D930}"/>
              </a:ext>
            </a:extLst>
          </p:cNvPr>
          <p:cNvSpPr>
            <a:spLocks noGrp="1"/>
          </p:cNvSpPr>
          <p:nvPr>
            <p:ph type="sldNum" sz="quarter" idx="5"/>
          </p:nvPr>
        </p:nvSpPr>
        <p:spPr/>
        <p:txBody>
          <a:bodyPr/>
          <a:lstStyle/>
          <a:p>
            <a:fld id="{6FD6A87A-FC7B-443D-8B50-EDB052029C9E}" type="slidenum">
              <a:rPr lang="en-GB" smtClean="0"/>
              <a:t>13</a:t>
            </a:fld>
            <a:endParaRPr lang="en-GB"/>
          </a:p>
        </p:txBody>
      </p:sp>
    </p:spTree>
    <p:extLst>
      <p:ext uri="{BB962C8B-B14F-4D97-AF65-F5344CB8AC3E}">
        <p14:creationId xmlns:p14="http://schemas.microsoft.com/office/powerpoint/2010/main" val="1381636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BDC57-E016-F2EF-88A9-F60C73742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858C0-7E86-4893-F72A-037A8577EDE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18EBD99-F376-B677-481A-CBE1D8FCDE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Level 3 is a larger map, featuring varying unseen wall textures, torches, and a further addition of enemies </a:t>
            </a:r>
          </a:p>
          <a:p>
            <a:endParaRPr lang="en-GB" dirty="0"/>
          </a:p>
        </p:txBody>
      </p:sp>
      <p:sp>
        <p:nvSpPr>
          <p:cNvPr id="4" name="Slide Number Placeholder 3">
            <a:extLst>
              <a:ext uri="{FF2B5EF4-FFF2-40B4-BE49-F238E27FC236}">
                <a16:creationId xmlns:a16="http://schemas.microsoft.com/office/drawing/2014/main" id="{7AEC1087-7B14-D892-7544-B5FF4B03FA4D}"/>
              </a:ext>
            </a:extLst>
          </p:cNvPr>
          <p:cNvSpPr>
            <a:spLocks noGrp="1"/>
          </p:cNvSpPr>
          <p:nvPr>
            <p:ph type="sldNum" sz="quarter" idx="5"/>
          </p:nvPr>
        </p:nvSpPr>
        <p:spPr/>
        <p:txBody>
          <a:bodyPr/>
          <a:lstStyle/>
          <a:p>
            <a:fld id="{6FD6A87A-FC7B-443D-8B50-EDB052029C9E}" type="slidenum">
              <a:rPr lang="en-GB" smtClean="0"/>
              <a:t>14</a:t>
            </a:fld>
            <a:endParaRPr lang="en-GB"/>
          </a:p>
        </p:txBody>
      </p:sp>
    </p:spTree>
    <p:extLst>
      <p:ext uri="{BB962C8B-B14F-4D97-AF65-F5344CB8AC3E}">
        <p14:creationId xmlns:p14="http://schemas.microsoft.com/office/powerpoint/2010/main" val="1432877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B4D5-7596-4721-B3FA-B7AE79A8E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F2473-6191-9F18-95F6-C142D6692DC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6CA182C-25BD-A12C-8846-8B5914E7A364}"/>
              </a:ext>
            </a:extLst>
          </p:cNvPr>
          <p:cNvSpPr>
            <a:spLocks noGrp="1"/>
          </p:cNvSpPr>
          <p:nvPr>
            <p:ph type="body" idx="1"/>
          </p:nvPr>
        </p:nvSpPr>
        <p:spPr/>
        <p:txBody>
          <a:bodyPr/>
          <a:lstStyle/>
          <a:p>
            <a:r>
              <a:rPr lang="en-GB" dirty="0"/>
              <a:t>This slide features all the different types of enemies that were used throughout the different levels of the Cacodemon Recognition Scenario.</a:t>
            </a:r>
          </a:p>
          <a:p>
            <a:endParaRPr lang="en-GB" dirty="0"/>
          </a:p>
          <a:p>
            <a:r>
              <a:rPr lang="en-GB" dirty="0"/>
              <a:t>The Pain Elemental and the Lost Soul were specifically chosen to be challenging distractors for the agent, both floating orbs which contain shades of red in them.</a:t>
            </a:r>
          </a:p>
        </p:txBody>
      </p:sp>
      <p:sp>
        <p:nvSpPr>
          <p:cNvPr id="4" name="Slide Number Placeholder 3">
            <a:extLst>
              <a:ext uri="{FF2B5EF4-FFF2-40B4-BE49-F238E27FC236}">
                <a16:creationId xmlns:a16="http://schemas.microsoft.com/office/drawing/2014/main" id="{BF6AC907-B9B7-8EB0-7C37-A663CB7F4A03}"/>
              </a:ext>
            </a:extLst>
          </p:cNvPr>
          <p:cNvSpPr>
            <a:spLocks noGrp="1"/>
          </p:cNvSpPr>
          <p:nvPr>
            <p:ph type="sldNum" sz="quarter" idx="5"/>
          </p:nvPr>
        </p:nvSpPr>
        <p:spPr/>
        <p:txBody>
          <a:bodyPr/>
          <a:lstStyle/>
          <a:p>
            <a:fld id="{6FD6A87A-FC7B-443D-8B50-EDB052029C9E}" type="slidenum">
              <a:rPr lang="en-GB" smtClean="0"/>
              <a:t>15</a:t>
            </a:fld>
            <a:endParaRPr lang="en-GB"/>
          </a:p>
        </p:txBody>
      </p:sp>
    </p:spTree>
    <p:extLst>
      <p:ext uri="{BB962C8B-B14F-4D97-AF65-F5344CB8AC3E}">
        <p14:creationId xmlns:p14="http://schemas.microsoft.com/office/powerpoint/2010/main" val="943520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15F31-8E1E-842E-85B4-FDDD22E85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DC723-2292-EDEB-69C9-99580715A44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E43B420-8D00-A272-0C98-76004E51584B}"/>
              </a:ext>
            </a:extLst>
          </p:cNvPr>
          <p:cNvSpPr>
            <a:spLocks noGrp="1"/>
          </p:cNvSpPr>
          <p:nvPr>
            <p:ph type="body" idx="1"/>
          </p:nvPr>
        </p:nvSpPr>
        <p:spPr/>
        <p:txBody>
          <a:bodyPr/>
          <a:lstStyle/>
          <a:p>
            <a:r>
              <a:rPr lang="en-GB" dirty="0"/>
              <a:t>The following lists the reward structure provided to agent’s during training, carefully tuned to guide the agent in the right direction without doing the work for it. Specifically, to prevent the agent from just spinning in circles to farm points, a strict schedule was prescribed. Killing the right target gives a positive reward of +10, but shooting the wrong enemy provides a heavy penalisation of -20. Crucially, rather than giving the agent the coordinates of the enemy, I calculates a fractional alignment reward based on the Euclidean distance from the target to the centre of the screen, gently guiding the camera towards desired behaviour. </a:t>
            </a:r>
          </a:p>
        </p:txBody>
      </p:sp>
      <p:sp>
        <p:nvSpPr>
          <p:cNvPr id="4" name="Slide Number Placeholder 3">
            <a:extLst>
              <a:ext uri="{FF2B5EF4-FFF2-40B4-BE49-F238E27FC236}">
                <a16:creationId xmlns:a16="http://schemas.microsoft.com/office/drawing/2014/main" id="{0CF189BA-F184-F920-BF13-41FC9F924A8E}"/>
              </a:ext>
            </a:extLst>
          </p:cNvPr>
          <p:cNvSpPr>
            <a:spLocks noGrp="1"/>
          </p:cNvSpPr>
          <p:nvPr>
            <p:ph type="sldNum" sz="quarter" idx="5"/>
          </p:nvPr>
        </p:nvSpPr>
        <p:spPr/>
        <p:txBody>
          <a:bodyPr/>
          <a:lstStyle/>
          <a:p>
            <a:fld id="{6FD6A87A-FC7B-443D-8B50-EDB052029C9E}" type="slidenum">
              <a:rPr lang="en-GB" smtClean="0"/>
              <a:t>16</a:t>
            </a:fld>
            <a:endParaRPr lang="en-GB"/>
          </a:p>
        </p:txBody>
      </p:sp>
    </p:spTree>
    <p:extLst>
      <p:ext uri="{BB962C8B-B14F-4D97-AF65-F5344CB8AC3E}">
        <p14:creationId xmlns:p14="http://schemas.microsoft.com/office/powerpoint/2010/main" val="3773242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CEB0E-B0BC-EFA2-DD74-E0A125263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0763B-132D-D1DC-5F8A-62C86543700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9389E00-D919-1994-DE3A-24B59ECCC099}"/>
              </a:ext>
            </a:extLst>
          </p:cNvPr>
          <p:cNvSpPr>
            <a:spLocks noGrp="1"/>
          </p:cNvSpPr>
          <p:nvPr>
            <p:ph type="body" idx="1"/>
          </p:nvPr>
        </p:nvSpPr>
        <p:spPr/>
        <p:txBody>
          <a:bodyPr/>
          <a:lstStyle/>
          <a:p>
            <a:r>
              <a:rPr lang="en-GB" dirty="0"/>
              <a:t>The implementation wasn’t without its challenges, however. When I had initially reduced the agent’s FOV to the extreme levels (like 10% and 1%), the models exhibited catastrophic forgetting – the eradication of (good) previously learned behaviour. Since the target was only visible in a tiny fraction of the frames, the gradient signal was washed out by frames of (empty) walls during training. I overcame this by dynamically scaling the hyperparameters; reducing batch sizes and increasing the entropy coefficient to force exploration over immediate reward, allowing even the most heavily blinded agents to learn. </a:t>
            </a:r>
          </a:p>
          <a:p>
            <a:endParaRPr lang="en-GB" dirty="0"/>
          </a:p>
          <a:p>
            <a:r>
              <a:rPr lang="en-GB" dirty="0"/>
              <a:t>The second graph displayed here is the retuned hyperparameters, showing steady and successful learning.</a:t>
            </a:r>
          </a:p>
        </p:txBody>
      </p:sp>
      <p:sp>
        <p:nvSpPr>
          <p:cNvPr id="4" name="Slide Number Placeholder 3">
            <a:extLst>
              <a:ext uri="{FF2B5EF4-FFF2-40B4-BE49-F238E27FC236}">
                <a16:creationId xmlns:a16="http://schemas.microsoft.com/office/drawing/2014/main" id="{ADDFDA72-308C-1AEB-1CC2-AF37378E9C57}"/>
              </a:ext>
            </a:extLst>
          </p:cNvPr>
          <p:cNvSpPr>
            <a:spLocks noGrp="1"/>
          </p:cNvSpPr>
          <p:nvPr>
            <p:ph type="sldNum" sz="quarter" idx="5"/>
          </p:nvPr>
        </p:nvSpPr>
        <p:spPr/>
        <p:txBody>
          <a:bodyPr/>
          <a:lstStyle/>
          <a:p>
            <a:fld id="{6FD6A87A-FC7B-443D-8B50-EDB052029C9E}" type="slidenum">
              <a:rPr lang="en-GB" smtClean="0"/>
              <a:t>17</a:t>
            </a:fld>
            <a:endParaRPr lang="en-GB"/>
          </a:p>
        </p:txBody>
      </p:sp>
    </p:spTree>
    <p:extLst>
      <p:ext uri="{BB962C8B-B14F-4D97-AF65-F5344CB8AC3E}">
        <p14:creationId xmlns:p14="http://schemas.microsoft.com/office/powerpoint/2010/main" val="2311052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21629-F68D-45F2-6A67-1187960FD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13908-E51C-993D-DB34-9FFA4C1E04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92CA540-F86C-8B30-845A-6CD9351A631E}"/>
              </a:ext>
            </a:extLst>
          </p:cNvPr>
          <p:cNvSpPr>
            <a:spLocks noGrp="1"/>
          </p:cNvSpPr>
          <p:nvPr>
            <p:ph type="body" idx="1"/>
          </p:nvPr>
        </p:nvSpPr>
        <p:spPr/>
        <p:txBody>
          <a:bodyPr/>
          <a:lstStyle/>
          <a:p>
            <a:r>
              <a:rPr lang="en-GB" dirty="0"/>
              <a:t>As the active models have a slightly different possible maximum reward, additional reward structures were removed during evaluation. This leaves us with just the principal rewards for target/non-target elimination, using the weapon, and living. </a:t>
            </a:r>
          </a:p>
        </p:txBody>
      </p:sp>
      <p:sp>
        <p:nvSpPr>
          <p:cNvPr id="4" name="Slide Number Placeholder 3">
            <a:extLst>
              <a:ext uri="{FF2B5EF4-FFF2-40B4-BE49-F238E27FC236}">
                <a16:creationId xmlns:a16="http://schemas.microsoft.com/office/drawing/2014/main" id="{02628991-67C8-3C2F-8336-EA556C7B7CE5}"/>
              </a:ext>
            </a:extLst>
          </p:cNvPr>
          <p:cNvSpPr>
            <a:spLocks noGrp="1"/>
          </p:cNvSpPr>
          <p:nvPr>
            <p:ph type="sldNum" sz="quarter" idx="5"/>
          </p:nvPr>
        </p:nvSpPr>
        <p:spPr/>
        <p:txBody>
          <a:bodyPr/>
          <a:lstStyle/>
          <a:p>
            <a:fld id="{6FD6A87A-FC7B-443D-8B50-EDB052029C9E}" type="slidenum">
              <a:rPr lang="en-GB" smtClean="0"/>
              <a:t>18</a:t>
            </a:fld>
            <a:endParaRPr lang="en-GB"/>
          </a:p>
        </p:txBody>
      </p:sp>
    </p:spTree>
    <p:extLst>
      <p:ext uri="{BB962C8B-B14F-4D97-AF65-F5344CB8AC3E}">
        <p14:creationId xmlns:p14="http://schemas.microsoft.com/office/powerpoint/2010/main" val="4207165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52FF1-B7F9-6CBC-655B-D8A4F9C23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0D9C0-D220-5915-A015-FC77A953600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4BC58BA-6E4D-5246-D353-658BAB00F906}"/>
              </a:ext>
            </a:extLst>
          </p:cNvPr>
          <p:cNvSpPr>
            <a:spLocks noGrp="1"/>
          </p:cNvSpPr>
          <p:nvPr>
            <p:ph type="body" idx="1"/>
          </p:nvPr>
        </p:nvSpPr>
        <p:spPr/>
        <p:txBody>
          <a:bodyPr/>
          <a:lstStyle/>
          <a:p>
            <a:r>
              <a:rPr lang="en-GB" dirty="0"/>
              <a:t>As the active models have a slightly different possible maximum reward, additional reward structures were removed during evaluation. This leaves us with just the principal rewards for target/non-target elimination, using the weapon, and living. </a:t>
            </a:r>
          </a:p>
        </p:txBody>
      </p:sp>
      <p:sp>
        <p:nvSpPr>
          <p:cNvPr id="4" name="Slide Number Placeholder 3">
            <a:extLst>
              <a:ext uri="{FF2B5EF4-FFF2-40B4-BE49-F238E27FC236}">
                <a16:creationId xmlns:a16="http://schemas.microsoft.com/office/drawing/2014/main" id="{E8EC4380-621D-CE98-CC74-25E7A874FE68}"/>
              </a:ext>
            </a:extLst>
          </p:cNvPr>
          <p:cNvSpPr>
            <a:spLocks noGrp="1"/>
          </p:cNvSpPr>
          <p:nvPr>
            <p:ph type="sldNum" sz="quarter" idx="5"/>
          </p:nvPr>
        </p:nvSpPr>
        <p:spPr/>
        <p:txBody>
          <a:bodyPr/>
          <a:lstStyle/>
          <a:p>
            <a:fld id="{6FD6A87A-FC7B-443D-8B50-EDB052029C9E}" type="slidenum">
              <a:rPr lang="en-GB" smtClean="0"/>
              <a:t>19</a:t>
            </a:fld>
            <a:endParaRPr lang="en-GB"/>
          </a:p>
        </p:txBody>
      </p:sp>
    </p:spTree>
    <p:extLst>
      <p:ext uri="{BB962C8B-B14F-4D97-AF65-F5344CB8AC3E}">
        <p14:creationId xmlns:p14="http://schemas.microsoft.com/office/powerpoint/2010/main" val="412570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52FF1-B7F9-6CBC-655B-D8A4F9C23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0D9C0-D220-5915-A015-FC77A953600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4BC58BA-6E4D-5246-D353-658BAB00F906}"/>
              </a:ext>
            </a:extLst>
          </p:cNvPr>
          <p:cNvSpPr>
            <a:spLocks noGrp="1"/>
          </p:cNvSpPr>
          <p:nvPr>
            <p:ph type="body" idx="1"/>
          </p:nvPr>
        </p:nvSpPr>
        <p:spPr/>
        <p:txBody>
          <a:bodyPr/>
          <a:lstStyle/>
          <a:p>
            <a:r>
              <a:rPr lang="en-GB" dirty="0"/>
              <a:t>Side-by-side frame by frame active vision model with 1% FOV (right) with the actual game screen (left)</a:t>
            </a:r>
          </a:p>
        </p:txBody>
      </p:sp>
      <p:sp>
        <p:nvSpPr>
          <p:cNvPr id="4" name="Slide Number Placeholder 3">
            <a:extLst>
              <a:ext uri="{FF2B5EF4-FFF2-40B4-BE49-F238E27FC236}">
                <a16:creationId xmlns:a16="http://schemas.microsoft.com/office/drawing/2014/main" id="{E8EC4380-621D-CE98-CC74-25E7A874FE68}"/>
              </a:ext>
            </a:extLst>
          </p:cNvPr>
          <p:cNvSpPr>
            <a:spLocks noGrp="1"/>
          </p:cNvSpPr>
          <p:nvPr>
            <p:ph type="sldNum" sz="quarter" idx="5"/>
          </p:nvPr>
        </p:nvSpPr>
        <p:spPr/>
        <p:txBody>
          <a:bodyPr/>
          <a:lstStyle/>
          <a:p>
            <a:fld id="{6FD6A87A-FC7B-443D-8B50-EDB052029C9E}" type="slidenum">
              <a:rPr lang="en-GB" smtClean="0"/>
              <a:t>20</a:t>
            </a:fld>
            <a:endParaRPr lang="en-GB"/>
          </a:p>
        </p:txBody>
      </p:sp>
    </p:spTree>
    <p:extLst>
      <p:ext uri="{BB962C8B-B14F-4D97-AF65-F5344CB8AC3E}">
        <p14:creationId xmlns:p14="http://schemas.microsoft.com/office/powerpoint/2010/main" val="15191694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B2370-AEA7-98FB-9589-2B23CA80C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348D6-CCAC-EEF9-D2B4-FC89ABF8F73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75D20B9-EDB9-D0A8-19BB-EEEF7846D845}"/>
              </a:ext>
            </a:extLst>
          </p:cNvPr>
          <p:cNvSpPr>
            <a:spLocks noGrp="1"/>
          </p:cNvSpPr>
          <p:nvPr>
            <p:ph type="body" idx="1"/>
          </p:nvPr>
        </p:nvSpPr>
        <p:spPr/>
        <p:txBody>
          <a:bodyPr/>
          <a:lstStyle/>
          <a:p>
            <a:r>
              <a:rPr lang="en-GB" dirty="0"/>
              <a:t>In the 1:1 evaluations, it can be seen here that the baseline slightly outperforms the active model, on average. However, when evaluating model generalisation (e.g. Model Type Level {1,2} on Levels {1,2,3}), the active models perform higher on average </a:t>
            </a:r>
          </a:p>
        </p:txBody>
      </p:sp>
      <p:sp>
        <p:nvSpPr>
          <p:cNvPr id="4" name="Slide Number Placeholder 3">
            <a:extLst>
              <a:ext uri="{FF2B5EF4-FFF2-40B4-BE49-F238E27FC236}">
                <a16:creationId xmlns:a16="http://schemas.microsoft.com/office/drawing/2014/main" id="{6F8F2AC6-4009-BE2A-E4CA-B43998F92645}"/>
              </a:ext>
            </a:extLst>
          </p:cNvPr>
          <p:cNvSpPr>
            <a:spLocks noGrp="1"/>
          </p:cNvSpPr>
          <p:nvPr>
            <p:ph type="sldNum" sz="quarter" idx="5"/>
          </p:nvPr>
        </p:nvSpPr>
        <p:spPr/>
        <p:txBody>
          <a:bodyPr/>
          <a:lstStyle/>
          <a:p>
            <a:fld id="{6FD6A87A-FC7B-443D-8B50-EDB052029C9E}" type="slidenum">
              <a:rPr lang="en-GB" smtClean="0"/>
              <a:t>21</a:t>
            </a:fld>
            <a:endParaRPr lang="en-GB"/>
          </a:p>
        </p:txBody>
      </p:sp>
    </p:spTree>
    <p:extLst>
      <p:ext uri="{BB962C8B-B14F-4D97-AF65-F5344CB8AC3E}">
        <p14:creationId xmlns:p14="http://schemas.microsoft.com/office/powerpoint/2010/main" val="2391756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AC15-4A28-F7D8-1318-B7EDD8D1F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0D252-5E99-23A5-0D2C-C08AC361A29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4CC5B83-95FC-C831-A846-582E5D99BE1F}"/>
              </a:ext>
            </a:extLst>
          </p:cNvPr>
          <p:cNvSpPr>
            <a:spLocks noGrp="1"/>
          </p:cNvSpPr>
          <p:nvPr>
            <p:ph type="body" idx="1"/>
          </p:nvPr>
        </p:nvSpPr>
        <p:spPr/>
        <p:txBody>
          <a:bodyPr/>
          <a:lstStyle/>
          <a:p>
            <a:r>
              <a:rPr lang="en-GB" dirty="0"/>
              <a:t>In the 1:1 evaluations, it can be seen here that the baseline slightly outperforms the active model, on average. However, when evaluating model generalisation (e.g. Model Type Level {1,2} on Levels {1,2,3}), the active models perform higher on average </a:t>
            </a:r>
          </a:p>
        </p:txBody>
      </p:sp>
      <p:sp>
        <p:nvSpPr>
          <p:cNvPr id="4" name="Slide Number Placeholder 3">
            <a:extLst>
              <a:ext uri="{FF2B5EF4-FFF2-40B4-BE49-F238E27FC236}">
                <a16:creationId xmlns:a16="http://schemas.microsoft.com/office/drawing/2014/main" id="{FED947F9-B7F5-140D-A3BE-A4755FB7073C}"/>
              </a:ext>
            </a:extLst>
          </p:cNvPr>
          <p:cNvSpPr>
            <a:spLocks noGrp="1"/>
          </p:cNvSpPr>
          <p:nvPr>
            <p:ph type="sldNum" sz="quarter" idx="5"/>
          </p:nvPr>
        </p:nvSpPr>
        <p:spPr/>
        <p:txBody>
          <a:bodyPr/>
          <a:lstStyle/>
          <a:p>
            <a:fld id="{6FD6A87A-FC7B-443D-8B50-EDB052029C9E}" type="slidenum">
              <a:rPr lang="en-GB" smtClean="0"/>
              <a:t>22</a:t>
            </a:fld>
            <a:endParaRPr lang="en-GB"/>
          </a:p>
        </p:txBody>
      </p:sp>
    </p:spTree>
    <p:extLst>
      <p:ext uri="{BB962C8B-B14F-4D97-AF65-F5344CB8AC3E}">
        <p14:creationId xmlns:p14="http://schemas.microsoft.com/office/powerpoint/2010/main" val="3204614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46B26-5262-AB79-D270-EC0717AF4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4C97A-6745-370B-33BB-7E79AEAF643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49299F-BFE6-2429-059A-56AAE24A8C4F}"/>
              </a:ext>
            </a:extLst>
          </p:cNvPr>
          <p:cNvSpPr>
            <a:spLocks noGrp="1"/>
          </p:cNvSpPr>
          <p:nvPr>
            <p:ph type="body" idx="1"/>
          </p:nvPr>
        </p:nvSpPr>
        <p:spPr/>
        <p:txBody>
          <a:bodyPr/>
          <a:lstStyle/>
          <a:p>
            <a:r>
              <a:rPr lang="en-GB" dirty="0"/>
              <a:t>Thus, in summary, this project successfully demonstrates that we can isolate and evaluate the raw impact of foveated active vision. By integrating </a:t>
            </a:r>
            <a:r>
              <a:rPr lang="en-GB" dirty="0" err="1"/>
              <a:t>ViZDoom</a:t>
            </a:r>
            <a:r>
              <a:rPr lang="en-GB" dirty="0"/>
              <a:t>, Gymnasium, and SB3, I have created a fully reproducible benchmarking framework for </a:t>
            </a:r>
            <a:r>
              <a:rPr lang="en-GB" dirty="0" err="1"/>
              <a:t>for</a:t>
            </a:r>
            <a:r>
              <a:rPr lang="en-GB" dirty="0"/>
              <a:t> testing active vision perception against standard passive models. This lays the groundwork for overcoming the spatial limitations of standard CNNs, with future potential for testing continuous 3D movement and real-world robotics. </a:t>
            </a:r>
          </a:p>
          <a:p>
            <a:endParaRPr lang="en-GB" dirty="0"/>
          </a:p>
          <a:p>
            <a:r>
              <a:rPr lang="en-GB" dirty="0"/>
              <a:t>The framework also addresses a gap in the current literature and documentation, providing a concrete instance of an integration across these technologies</a:t>
            </a:r>
          </a:p>
        </p:txBody>
      </p:sp>
      <p:sp>
        <p:nvSpPr>
          <p:cNvPr id="4" name="Slide Number Placeholder 3">
            <a:extLst>
              <a:ext uri="{FF2B5EF4-FFF2-40B4-BE49-F238E27FC236}">
                <a16:creationId xmlns:a16="http://schemas.microsoft.com/office/drawing/2014/main" id="{1BA49B0A-8A4F-78CF-7C15-8DB11B9DDD1C}"/>
              </a:ext>
            </a:extLst>
          </p:cNvPr>
          <p:cNvSpPr>
            <a:spLocks noGrp="1"/>
          </p:cNvSpPr>
          <p:nvPr>
            <p:ph type="sldNum" sz="quarter" idx="5"/>
          </p:nvPr>
        </p:nvSpPr>
        <p:spPr/>
        <p:txBody>
          <a:bodyPr/>
          <a:lstStyle/>
          <a:p>
            <a:fld id="{6FD6A87A-FC7B-443D-8B50-EDB052029C9E}" type="slidenum">
              <a:rPr lang="en-GB" smtClean="0"/>
              <a:t>23</a:t>
            </a:fld>
            <a:endParaRPr lang="en-GB"/>
          </a:p>
        </p:txBody>
      </p:sp>
    </p:spTree>
    <p:extLst>
      <p:ext uri="{BB962C8B-B14F-4D97-AF65-F5344CB8AC3E}">
        <p14:creationId xmlns:p14="http://schemas.microsoft.com/office/powerpoint/2010/main" val="3592003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1F0C-67B0-A7B3-45EF-D8945B793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A5399-37A3-6FAC-9E58-9B20B222294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7BE9D98-1ADD-84D9-2368-E5C23B419C99}"/>
              </a:ext>
            </a:extLst>
          </p:cNvPr>
          <p:cNvSpPr>
            <a:spLocks noGrp="1"/>
          </p:cNvSpPr>
          <p:nvPr>
            <p:ph type="body" idx="1"/>
          </p:nvPr>
        </p:nvSpPr>
        <p:spPr/>
        <p:txBody>
          <a:bodyPr/>
          <a:lstStyle/>
          <a:p>
            <a:r>
              <a:rPr lang="en-GB" dirty="0"/>
              <a:t>Thus, in summary, this project successfully demonstrates that we can isolate and evaluate the raw impact of foveated active vision. By integrating </a:t>
            </a:r>
            <a:r>
              <a:rPr lang="en-GB" dirty="0" err="1"/>
              <a:t>ViZDoom</a:t>
            </a:r>
            <a:r>
              <a:rPr lang="en-GB" dirty="0"/>
              <a:t>, Gymnasium, and SB3, I have created a fully reproducible benchmarking framework for </a:t>
            </a:r>
            <a:r>
              <a:rPr lang="en-GB" dirty="0" err="1"/>
              <a:t>for</a:t>
            </a:r>
            <a:r>
              <a:rPr lang="en-GB" dirty="0"/>
              <a:t> testing active vision perception against standard passive models. This lays the groundwork for overcoming the spatial limitations of standard CNNs, with future potential for testing continuous 3D movement and real-world robotics. </a:t>
            </a:r>
          </a:p>
          <a:p>
            <a:endParaRPr lang="en-GB" dirty="0"/>
          </a:p>
          <a:p>
            <a:r>
              <a:rPr lang="en-GB" dirty="0"/>
              <a:t>The framework also addresses a gap in the current literature and documentation, providing a concrete instance of an integration across these technologies</a:t>
            </a:r>
          </a:p>
        </p:txBody>
      </p:sp>
      <p:sp>
        <p:nvSpPr>
          <p:cNvPr id="4" name="Slide Number Placeholder 3">
            <a:extLst>
              <a:ext uri="{FF2B5EF4-FFF2-40B4-BE49-F238E27FC236}">
                <a16:creationId xmlns:a16="http://schemas.microsoft.com/office/drawing/2014/main" id="{12E576A9-7330-B99A-E8E9-54E5B312DC79}"/>
              </a:ext>
            </a:extLst>
          </p:cNvPr>
          <p:cNvSpPr>
            <a:spLocks noGrp="1"/>
          </p:cNvSpPr>
          <p:nvPr>
            <p:ph type="sldNum" sz="quarter" idx="5"/>
          </p:nvPr>
        </p:nvSpPr>
        <p:spPr/>
        <p:txBody>
          <a:bodyPr/>
          <a:lstStyle/>
          <a:p>
            <a:fld id="{6FD6A87A-FC7B-443D-8B50-EDB052029C9E}" type="slidenum">
              <a:rPr lang="en-GB" smtClean="0"/>
              <a:t>24</a:t>
            </a:fld>
            <a:endParaRPr lang="en-GB"/>
          </a:p>
        </p:txBody>
      </p:sp>
    </p:spTree>
    <p:extLst>
      <p:ext uri="{BB962C8B-B14F-4D97-AF65-F5344CB8AC3E}">
        <p14:creationId xmlns:p14="http://schemas.microsoft.com/office/powerpoint/2010/main" val="1722037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FD6A87A-FC7B-443D-8B50-EDB052029C9E}" type="slidenum">
              <a:rPr lang="en-GB" smtClean="0"/>
              <a:t>25</a:t>
            </a:fld>
            <a:endParaRPr lang="en-GB"/>
          </a:p>
        </p:txBody>
      </p:sp>
    </p:spTree>
    <p:extLst>
      <p:ext uri="{BB962C8B-B14F-4D97-AF65-F5344CB8AC3E}">
        <p14:creationId xmlns:p14="http://schemas.microsoft.com/office/powerpoint/2010/main" val="807367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0EDF4-B7C1-8FEF-7664-99AA04C6B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4E5AC-9B0F-BF94-ED47-F492A6E0B3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F10C7E-2C5F-AF8E-805A-C3DAADB0D0D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4A3003C-ADB9-C02B-65FA-82C920650C53}"/>
              </a:ext>
            </a:extLst>
          </p:cNvPr>
          <p:cNvSpPr>
            <a:spLocks noGrp="1"/>
          </p:cNvSpPr>
          <p:nvPr>
            <p:ph type="sldNum" sz="quarter" idx="5"/>
          </p:nvPr>
        </p:nvSpPr>
        <p:spPr/>
        <p:txBody>
          <a:bodyPr/>
          <a:lstStyle/>
          <a:p>
            <a:fld id="{6FD6A87A-FC7B-443D-8B50-EDB052029C9E}" type="slidenum">
              <a:rPr lang="en-GB" smtClean="0"/>
              <a:t>26</a:t>
            </a:fld>
            <a:endParaRPr lang="en-GB"/>
          </a:p>
        </p:txBody>
      </p:sp>
    </p:spTree>
    <p:extLst>
      <p:ext uri="{BB962C8B-B14F-4D97-AF65-F5344CB8AC3E}">
        <p14:creationId xmlns:p14="http://schemas.microsoft.com/office/powerpoint/2010/main" val="226203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FA78-5AC1-8DBA-3168-5BE7ABCF6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0834C-AD3C-B197-219A-CA88468F808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F5984AE-2606-AC31-4CB9-1415F1C00C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a:extLst>
              <a:ext uri="{FF2B5EF4-FFF2-40B4-BE49-F238E27FC236}">
                <a16:creationId xmlns:a16="http://schemas.microsoft.com/office/drawing/2014/main" id="{B5B087D1-42A3-633E-FF84-4490BBDE112E}"/>
              </a:ext>
            </a:extLst>
          </p:cNvPr>
          <p:cNvSpPr>
            <a:spLocks noGrp="1"/>
          </p:cNvSpPr>
          <p:nvPr>
            <p:ph type="sldNum" sz="quarter" idx="5"/>
          </p:nvPr>
        </p:nvSpPr>
        <p:spPr/>
        <p:txBody>
          <a:bodyPr/>
          <a:lstStyle/>
          <a:p>
            <a:fld id="{6FD6A87A-FC7B-443D-8B50-EDB052029C9E}" type="slidenum">
              <a:rPr lang="en-GB" smtClean="0"/>
              <a:t>27</a:t>
            </a:fld>
            <a:endParaRPr lang="en-GB"/>
          </a:p>
        </p:txBody>
      </p:sp>
    </p:spTree>
    <p:extLst>
      <p:ext uri="{BB962C8B-B14F-4D97-AF65-F5344CB8AC3E}">
        <p14:creationId xmlns:p14="http://schemas.microsoft.com/office/powerpoint/2010/main" val="2844333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9AE95-4955-0ECC-A21A-FBCFC5D42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A04D2F-49CD-BCFD-C6EA-1F10C505EF7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5A5B8AE-470C-F9AE-A248-9B891E257D2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5FC9CC5-E2F2-6047-421A-4992F27E11C4}"/>
              </a:ext>
            </a:extLst>
          </p:cNvPr>
          <p:cNvSpPr>
            <a:spLocks noGrp="1"/>
          </p:cNvSpPr>
          <p:nvPr>
            <p:ph type="sldNum" sz="quarter" idx="5"/>
          </p:nvPr>
        </p:nvSpPr>
        <p:spPr/>
        <p:txBody>
          <a:bodyPr/>
          <a:lstStyle/>
          <a:p>
            <a:fld id="{6FD6A87A-FC7B-443D-8B50-EDB052029C9E}" type="slidenum">
              <a:rPr lang="en-GB" smtClean="0"/>
              <a:t>28</a:t>
            </a:fld>
            <a:endParaRPr lang="en-GB"/>
          </a:p>
        </p:txBody>
      </p:sp>
    </p:spTree>
    <p:extLst>
      <p:ext uri="{BB962C8B-B14F-4D97-AF65-F5344CB8AC3E}">
        <p14:creationId xmlns:p14="http://schemas.microsoft.com/office/powerpoint/2010/main" val="3977164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A0CD-F4B8-8D59-467C-95A87E59E96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A09B033-3968-FD69-F0ED-114DF4F076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DD9CCFE-4976-C393-0308-9D5187F08200}"/>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3138A9E9-782B-88BC-43D4-5ADD65C4B5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ED20CD-8304-E44E-E1CE-22EB433AFE40}"/>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3494081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73D85-3138-2825-AA6A-949A454FDBE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44D8521-8F97-5966-C58E-1CF96ADB60F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956E40F-DED5-ACF1-E1E6-2B1886D4E209}"/>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79E466C1-4F48-6010-F88B-4DB193526E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B51FD4-5F6C-8A72-D60F-83B42A07E7CB}"/>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112483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D32CA-E296-89E2-6066-E5189B939D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53C7199-F325-F008-3795-3C29451E07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5064A55-0EB2-3592-0439-52BFA9637039}"/>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D2A3EDDB-41B6-E36F-7B49-F5E8FC40ED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CDAB0D-D295-CA33-3289-D99FEB611508}"/>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64897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1B6F-36CA-5E93-2298-58827BA1684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48B330B-C68F-8842-6050-588A158DB08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FE21717-666E-514A-46B7-95EE4206B7F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28D9271-8641-1A31-75C0-662595A89619}"/>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6" name="Footer Placeholder 5">
            <a:extLst>
              <a:ext uri="{FF2B5EF4-FFF2-40B4-BE49-F238E27FC236}">
                <a16:creationId xmlns:a16="http://schemas.microsoft.com/office/drawing/2014/main" id="{CED08238-A134-ACD8-83FA-AC1A8B764F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555FCFF-3B8C-8795-B90D-225BE3538D7D}"/>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3804366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47EF0-F540-A8FE-3DBB-2C0EC10BBF2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842BD17-E051-A3B3-E3DA-F185137F8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97F2C1-7E55-EEFE-683C-810D3293750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C9B6A9-B54E-6CDC-D168-0FA561F1DA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8D8158B-2FB2-B4B9-F211-BC36E29AC51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42FB857-5E1D-CF05-32AB-2E457C2FCBD2}"/>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8" name="Footer Placeholder 7">
            <a:extLst>
              <a:ext uri="{FF2B5EF4-FFF2-40B4-BE49-F238E27FC236}">
                <a16:creationId xmlns:a16="http://schemas.microsoft.com/office/drawing/2014/main" id="{130EF730-65A1-528E-42F0-297EAFE3EE5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6666713-3652-131E-0631-C8B73CCE94D8}"/>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194655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ABEB2-7A0D-60D5-7ADC-E471AD21427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8BD34D1C-8074-9B16-80DC-A1C793476D56}"/>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4" name="Footer Placeholder 3">
            <a:extLst>
              <a:ext uri="{FF2B5EF4-FFF2-40B4-BE49-F238E27FC236}">
                <a16:creationId xmlns:a16="http://schemas.microsoft.com/office/drawing/2014/main" id="{C53DB7B4-3F73-B687-C676-97B6A54E314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8A29423-5813-21E9-05F7-A1CC88051FF6}"/>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4058243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0FB915-FF84-315B-243E-AAE4D4E64829}"/>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3" name="Footer Placeholder 2">
            <a:extLst>
              <a:ext uri="{FF2B5EF4-FFF2-40B4-BE49-F238E27FC236}">
                <a16:creationId xmlns:a16="http://schemas.microsoft.com/office/drawing/2014/main" id="{72168A70-89F0-A3B3-EB3F-C46D05A1740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6A0884C-80BA-4AAD-E44D-1889330B3B15}"/>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3497128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5B5C-EF9E-6023-C54C-F6CEB59DE5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9920D6B-687D-4AC3-69AF-CA1190A049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36920BC4-C328-BB42-1093-16952EC271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2130089-0CEA-C989-9857-64DB58E5B9E5}"/>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6" name="Footer Placeholder 5">
            <a:extLst>
              <a:ext uri="{FF2B5EF4-FFF2-40B4-BE49-F238E27FC236}">
                <a16:creationId xmlns:a16="http://schemas.microsoft.com/office/drawing/2014/main" id="{494B6C63-39D7-5542-8FCB-85B7BC9C92D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C1264F-EB0C-F547-D3E5-4863B81312FF}"/>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1707111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E673B-8C2D-7A37-3416-A6E081C97D1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7782A11-9633-1AB9-DA12-177E31E02B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A4E84FD-20DB-3A4B-45A3-E05D8399F3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F83C67-30CC-7BDD-22D4-F78DFB9D6DDD}"/>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6" name="Footer Placeholder 5">
            <a:extLst>
              <a:ext uri="{FF2B5EF4-FFF2-40B4-BE49-F238E27FC236}">
                <a16:creationId xmlns:a16="http://schemas.microsoft.com/office/drawing/2014/main" id="{C811CB3F-78E3-55B5-1F59-2BA63A61DF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A3C1D64-98E5-8003-CA35-D1D305DB22AF}"/>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687659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DF3C3-A991-2120-F03D-B14F79623C7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679C32E-290B-1C09-146C-B00657BCCCE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B3E1544-8556-0B8F-5662-0D3881F1A6B3}"/>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5DD8E661-EDAF-7E84-8E0C-A0EA64B598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E2D991-0910-AF47-AA44-96DABA350D3C}"/>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63559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EA33B9-800C-26B7-8AD7-C0C001313A6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3D8F3DAF-D810-6695-A0C5-8658B0B4F5C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FC3192F-229A-FBF0-381C-4F29D7BA8B79}"/>
              </a:ext>
            </a:extLst>
          </p:cNvPr>
          <p:cNvSpPr>
            <a:spLocks noGrp="1"/>
          </p:cNvSpPr>
          <p:nvPr>
            <p:ph type="dt" sz="half" idx="10"/>
          </p:nvPr>
        </p:nvSpPr>
        <p:spPr/>
        <p:txBody>
          <a:body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B4FC23F4-BE85-78E7-6900-C48CBE020F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8037A0-2203-C4AC-2D7E-122F997DF621}"/>
              </a:ext>
            </a:extLst>
          </p:cNvPr>
          <p:cNvSpPr>
            <a:spLocks noGrp="1"/>
          </p:cNvSpPr>
          <p:nvPr>
            <p:ph type="sldNum" sz="quarter" idx="12"/>
          </p:nvPr>
        </p:nvSpPr>
        <p:spPr/>
        <p:txBody>
          <a:bodyPr/>
          <a:lstStyle/>
          <a:p>
            <a:fld id="{F88C6087-0405-4D2A-A39D-A3F9DBB79EFB}" type="slidenum">
              <a:rPr lang="en-GB" smtClean="0"/>
              <a:t>‹#›</a:t>
            </a:fld>
            <a:endParaRPr lang="en-GB"/>
          </a:p>
        </p:txBody>
      </p:sp>
    </p:spTree>
    <p:extLst>
      <p:ext uri="{BB962C8B-B14F-4D97-AF65-F5344CB8AC3E}">
        <p14:creationId xmlns:p14="http://schemas.microsoft.com/office/powerpoint/2010/main" val="116423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D5A5F8-AD32-4BA9-E4EB-A1A1FD22DE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E4C5C9B9-1838-7EF0-2343-1DAA12DEA6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EBFE1AA-9EE6-02BE-4BA3-26A760936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CF091B-4E0C-4ED1-B93B-7ECD9CC1DDA9}" type="datetimeFigureOut">
              <a:rPr lang="en-GB" smtClean="0"/>
              <a:t>21/09/2026</a:t>
            </a:fld>
            <a:endParaRPr lang="en-GB"/>
          </a:p>
        </p:txBody>
      </p:sp>
      <p:sp>
        <p:nvSpPr>
          <p:cNvPr id="5" name="Footer Placeholder 4">
            <a:extLst>
              <a:ext uri="{FF2B5EF4-FFF2-40B4-BE49-F238E27FC236}">
                <a16:creationId xmlns:a16="http://schemas.microsoft.com/office/drawing/2014/main" id="{9FCDB5B9-18E9-911D-CD74-0D30BB0DE7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B37D426-994D-FCA4-826F-09E2C6216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8C6087-0405-4D2A-A39D-A3F9DBB79EFB}" type="slidenum">
              <a:rPr lang="en-GB" smtClean="0"/>
              <a:t>‹#›</a:t>
            </a:fld>
            <a:endParaRPr lang="en-GB"/>
          </a:p>
        </p:txBody>
      </p:sp>
    </p:spTree>
    <p:extLst>
      <p:ext uri="{BB962C8B-B14F-4D97-AF65-F5344CB8AC3E}">
        <p14:creationId xmlns:p14="http://schemas.microsoft.com/office/powerpoint/2010/main" val="303927465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7"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jp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3.bin"/><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onlinelibrary.wiley.com/doi/abs/10.1155/2024/2797320" TargetMode="External"/><Relationship Id="rId3" Type="http://schemas.openxmlformats.org/officeDocument/2006/relationships/hyperlink" Target="https://doi.org/10.1007/BF00133571" TargetMode="External"/><Relationship Id="rId7" Type="http://schemas.openxmlformats.org/officeDocument/2006/relationships/hyperlink" Target="https://www.suaspress.org/ojs/index.php/JIEAS/article/view/v2n6a03" TargetMode="External"/><Relationship Id="rId12" Type="http://schemas.openxmlformats.org/officeDocument/2006/relationships/hyperlink" Target="https://www.therobotreport.com/7-key-robot-applications-in-automotive-manufacturing/"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arxiv.org/abs/2506.10968" TargetMode="External"/><Relationship Id="rId11" Type="http://schemas.openxmlformats.org/officeDocument/2006/relationships/hyperlink" Target="https://yoshalawfirm.com/blog/5-top-self-driving-car-manufacturers/" TargetMode="External"/><Relationship Id="rId5" Type="http://schemas.openxmlformats.org/officeDocument/2006/relationships/hyperlink" Target="https://ieeexplore.ieee.org/document/7860433/" TargetMode="External"/><Relationship Id="rId10" Type="http://schemas.openxmlformats.org/officeDocument/2006/relationships/hyperlink" Target="https://linkinghub.elsevier.com/retrieve/pii/B9780127412450500129" TargetMode="External"/><Relationship Id="rId4" Type="http://schemas.openxmlformats.org/officeDocument/2006/relationships/hyperlink" Target="http://arxiv.org/abs/2409.17435" TargetMode="External"/><Relationship Id="rId9" Type="http://schemas.openxmlformats.org/officeDocument/2006/relationships/hyperlink" Target="http://arxiv.org/abs/2407.17032"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2E62931-8EB4-42BB-BAAB-D8757BE66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1A0E2F-56DE-DCB6-38E0-E2FB967D98AB}"/>
              </a:ext>
            </a:extLst>
          </p:cNvPr>
          <p:cNvSpPr>
            <a:spLocks noGrp="1"/>
          </p:cNvSpPr>
          <p:nvPr>
            <p:ph type="ctrTitle"/>
          </p:nvPr>
        </p:nvSpPr>
        <p:spPr>
          <a:xfrm>
            <a:off x="6367461" y="728664"/>
            <a:ext cx="4984813" cy="3157080"/>
          </a:xfrm>
          <a:noFill/>
        </p:spPr>
        <p:txBody>
          <a:bodyPr>
            <a:normAutofit/>
          </a:bodyPr>
          <a:lstStyle/>
          <a:p>
            <a:pPr algn="l"/>
            <a:r>
              <a:rPr lang="en-GB" sz="4400"/>
              <a:t>The Effects of Active Vision on Reinforcement Learning Model Performance</a:t>
            </a:r>
          </a:p>
        </p:txBody>
      </p:sp>
      <p:sp>
        <p:nvSpPr>
          <p:cNvPr id="3" name="Subtitle 2">
            <a:extLst>
              <a:ext uri="{FF2B5EF4-FFF2-40B4-BE49-F238E27FC236}">
                <a16:creationId xmlns:a16="http://schemas.microsoft.com/office/drawing/2014/main" id="{503FF60E-2120-99FB-98D8-8CFA43F45319}"/>
              </a:ext>
            </a:extLst>
          </p:cNvPr>
          <p:cNvSpPr>
            <a:spLocks noGrp="1"/>
          </p:cNvSpPr>
          <p:nvPr>
            <p:ph type="subTitle" idx="1"/>
          </p:nvPr>
        </p:nvSpPr>
        <p:spPr>
          <a:xfrm>
            <a:off x="6367461" y="4361870"/>
            <a:ext cx="4984813" cy="2057289"/>
          </a:xfrm>
          <a:noFill/>
        </p:spPr>
        <p:txBody>
          <a:bodyPr>
            <a:normAutofit/>
          </a:bodyPr>
          <a:lstStyle/>
          <a:p>
            <a:pPr algn="l"/>
            <a:r>
              <a:rPr lang="en-GB" dirty="0"/>
              <a:t>A 4</a:t>
            </a:r>
            <a:r>
              <a:rPr lang="en-GB" baseline="30000" dirty="0"/>
              <a:t>th</a:t>
            </a:r>
            <a:r>
              <a:rPr lang="en-GB" dirty="0"/>
              <a:t> Level (Honours) Project By   	     Rhys Stewart</a:t>
            </a:r>
          </a:p>
        </p:txBody>
      </p:sp>
      <p:sp>
        <p:nvSpPr>
          <p:cNvPr id="11" name="Rectangle 10">
            <a:extLst>
              <a:ext uri="{FF2B5EF4-FFF2-40B4-BE49-F238E27FC236}">
                <a16:creationId xmlns:a16="http://schemas.microsoft.com/office/drawing/2014/main" id="{936CEF04-2623-FA3A-1893-4A538C145E45}"/>
              </a:ext>
            </a:extLst>
          </p:cNvPr>
          <p:cNvSpPr/>
          <p:nvPr/>
        </p:nvSpPr>
        <p:spPr>
          <a:xfrm>
            <a:off x="10294" y="5390525"/>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BA869469-60D3-C2BA-53C2-FB94E7038C1B}"/>
              </a:ext>
            </a:extLst>
          </p:cNvPr>
          <p:cNvPicPr>
            <a:picLocks noChangeAspect="1"/>
          </p:cNvPicPr>
          <p:nvPr/>
        </p:nvPicPr>
        <p:blipFill>
          <a:blip r:embed="rId3">
            <a:extLst>
              <a:ext uri="{28A0092B-C50C-407E-A947-70E740481C1C}">
                <a14:useLocalDpi xmlns:a14="http://schemas.microsoft.com/office/drawing/2010/main" val="0"/>
              </a:ext>
            </a:extLst>
          </a:blip>
          <a:srcRect l="4016" r="4015" b="-1"/>
          <a:stretch>
            <a:fillRect/>
          </a:stretch>
        </p:blipFill>
        <p:spPr>
          <a:xfrm>
            <a:off x="1" y="10"/>
            <a:ext cx="6005512" cy="6857990"/>
          </a:xfrm>
          <a:prstGeom prst="rect">
            <a:avLst/>
          </a:prstGeom>
        </p:spPr>
      </p:pic>
      <p:pic>
        <p:nvPicPr>
          <p:cNvPr id="9" name="Picture 8" descr="University of Glasgow">
            <a:extLst>
              <a:ext uri="{FF2B5EF4-FFF2-40B4-BE49-F238E27FC236}">
                <a16:creationId xmlns:a16="http://schemas.microsoft.com/office/drawing/2014/main" id="{A475BE4C-BF9D-295D-7C4B-7A979980CE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1354"/>
            <a:ext cx="1587500" cy="711200"/>
          </a:xfrm>
          <a:prstGeom prst="rect">
            <a:avLst/>
          </a:prstGeom>
        </p:spPr>
      </p:pic>
    </p:spTree>
    <p:extLst>
      <p:ext uri="{BB962C8B-B14F-4D97-AF65-F5344CB8AC3E}">
        <p14:creationId xmlns:p14="http://schemas.microsoft.com/office/powerpoint/2010/main" val="59399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2">
            <a:extLst>
              <a:ext uri="{FF2B5EF4-FFF2-40B4-BE49-F238E27FC236}">
                <a16:creationId xmlns:a16="http://schemas.microsoft.com/office/drawing/2014/main" id="{D86906DD-F6C7-8FF6-4CB1-A9AEC7552B2A}"/>
              </a:ext>
            </a:extLst>
          </p:cNvPr>
          <p:cNvGraphicFramePr>
            <a:graphicFrameLocks noGrp="1"/>
          </p:cNvGraphicFramePr>
          <p:nvPr>
            <p:ph idx="1"/>
            <p:extLst>
              <p:ext uri="{D42A27DB-BD31-4B8C-83A1-F6EECF244321}">
                <p14:modId xmlns:p14="http://schemas.microsoft.com/office/powerpoint/2010/main" val="4170875719"/>
              </p:ext>
            </p:extLst>
          </p:nvPr>
        </p:nvGraphicFramePr>
        <p:xfrm>
          <a:off x="1699913" y="-279815"/>
          <a:ext cx="9083874" cy="5337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91BBB300-C427-27B1-06A9-D836682DC9E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507932" y="3095083"/>
            <a:ext cx="2647950" cy="3640576"/>
          </a:xfrm>
          <a:prstGeom prst="rect">
            <a:avLst/>
          </a:prstGeom>
        </p:spPr>
      </p:pic>
      <p:sp>
        <p:nvSpPr>
          <p:cNvPr id="10" name="TextBox 9">
            <a:extLst>
              <a:ext uri="{FF2B5EF4-FFF2-40B4-BE49-F238E27FC236}">
                <a16:creationId xmlns:a16="http://schemas.microsoft.com/office/drawing/2014/main" id="{E6EF104B-7932-FD6D-0B76-1D007436974D}"/>
              </a:ext>
            </a:extLst>
          </p:cNvPr>
          <p:cNvSpPr txBox="1"/>
          <p:nvPr/>
        </p:nvSpPr>
        <p:spPr>
          <a:xfrm>
            <a:off x="10155882" y="6127686"/>
            <a:ext cx="2362943" cy="646331"/>
          </a:xfrm>
          <a:prstGeom prst="rect">
            <a:avLst/>
          </a:prstGeom>
          <a:noFill/>
        </p:spPr>
        <p:txBody>
          <a:bodyPr wrap="square">
            <a:spAutoFit/>
          </a:bodyPr>
          <a:lstStyle/>
          <a:p>
            <a:r>
              <a:rPr lang="en-GB" sz="1800" dirty="0">
                <a:solidFill>
                  <a:schemeClr val="bg2">
                    <a:lumMod val="75000"/>
                  </a:schemeClr>
                </a:solidFill>
              </a:rPr>
              <a:t>Image Credit: [12] Yosha, B</a:t>
            </a:r>
            <a:r>
              <a:rPr lang="en-GB" dirty="0">
                <a:solidFill>
                  <a:schemeClr val="bg2">
                    <a:lumMod val="75000"/>
                  </a:schemeClr>
                </a:solidFill>
              </a:rPr>
              <a:t> </a:t>
            </a:r>
          </a:p>
        </p:txBody>
      </p:sp>
      <p:pic>
        <p:nvPicPr>
          <p:cNvPr id="12" name="Picture 11">
            <a:extLst>
              <a:ext uri="{FF2B5EF4-FFF2-40B4-BE49-F238E27FC236}">
                <a16:creationId xmlns:a16="http://schemas.microsoft.com/office/drawing/2014/main" id="{D7788448-DAE6-C36B-B35F-6E03329110C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13801" y="3384691"/>
            <a:ext cx="4294569" cy="2863605"/>
          </a:xfrm>
          <a:prstGeom prst="rect">
            <a:avLst/>
          </a:prstGeom>
        </p:spPr>
      </p:pic>
      <p:sp>
        <p:nvSpPr>
          <p:cNvPr id="15" name="Rectangle 14">
            <a:extLst>
              <a:ext uri="{FF2B5EF4-FFF2-40B4-BE49-F238E27FC236}">
                <a16:creationId xmlns:a16="http://schemas.microsoft.com/office/drawing/2014/main" id="{D348211E-61C6-80D0-C1AB-487978B10FA4}"/>
              </a:ext>
            </a:extLst>
          </p:cNvPr>
          <p:cNvSpPr/>
          <p:nvPr/>
        </p:nvSpPr>
        <p:spPr>
          <a:xfrm>
            <a:off x="-16074" y="-1371"/>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tle 1">
            <a:extLst>
              <a:ext uri="{FF2B5EF4-FFF2-40B4-BE49-F238E27FC236}">
                <a16:creationId xmlns:a16="http://schemas.microsoft.com/office/drawing/2014/main" id="{43A56924-5751-C4B1-E43B-98391347F4CD}"/>
              </a:ext>
            </a:extLst>
          </p:cNvPr>
          <p:cNvSpPr txBox="1">
            <a:spLocks/>
          </p:cNvSpPr>
          <p:nvPr/>
        </p:nvSpPr>
        <p:spPr>
          <a:xfrm>
            <a:off x="822126" y="37644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solidFill>
                  <a:schemeClr val="bg1"/>
                </a:solidFill>
              </a:rPr>
              <a:t>Introduction</a:t>
            </a:r>
            <a:endParaRPr lang="en-GB" dirty="0">
              <a:solidFill>
                <a:schemeClr val="bg1"/>
              </a:solidFill>
            </a:endParaRPr>
          </a:p>
        </p:txBody>
      </p:sp>
      <p:sp>
        <p:nvSpPr>
          <p:cNvPr id="18" name="TextBox 17">
            <a:extLst>
              <a:ext uri="{FF2B5EF4-FFF2-40B4-BE49-F238E27FC236}">
                <a16:creationId xmlns:a16="http://schemas.microsoft.com/office/drawing/2014/main" id="{08D6B96B-48B1-B111-5273-07FC56EF1FA6}"/>
              </a:ext>
            </a:extLst>
          </p:cNvPr>
          <p:cNvSpPr txBox="1"/>
          <p:nvPr/>
        </p:nvSpPr>
        <p:spPr>
          <a:xfrm>
            <a:off x="2591772" y="6312281"/>
            <a:ext cx="3488154" cy="338554"/>
          </a:xfrm>
          <a:prstGeom prst="rect">
            <a:avLst/>
          </a:prstGeom>
          <a:noFill/>
        </p:spPr>
        <p:txBody>
          <a:bodyPr wrap="square">
            <a:spAutoFit/>
          </a:bodyPr>
          <a:lstStyle/>
          <a:p>
            <a:r>
              <a:rPr lang="en-GB" sz="1600" dirty="0">
                <a:solidFill>
                  <a:schemeClr val="bg2">
                    <a:lumMod val="75000"/>
                  </a:schemeClr>
                </a:solidFill>
              </a:rPr>
              <a:t>Image Credit: [13] Hartwig, B.</a:t>
            </a:r>
          </a:p>
        </p:txBody>
      </p:sp>
    </p:spTree>
    <p:extLst>
      <p:ext uri="{BB962C8B-B14F-4D97-AF65-F5344CB8AC3E}">
        <p14:creationId xmlns:p14="http://schemas.microsoft.com/office/powerpoint/2010/main" val="2391996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0298C-4A65-7FC8-8DA8-0BD3D66CEE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2DE84F-CAB8-9B64-10CC-80AAB2250233}"/>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D0418438-6BF1-7B08-229A-EF68225B3139}"/>
              </a:ext>
            </a:extLst>
          </p:cNvPr>
          <p:cNvSpPr>
            <a:spLocks noGrp="1"/>
          </p:cNvSpPr>
          <p:nvPr>
            <p:ph idx="1"/>
          </p:nvPr>
        </p:nvSpPr>
        <p:spPr>
          <a:xfrm>
            <a:off x="838200" y="1527373"/>
            <a:ext cx="10515600" cy="4649590"/>
          </a:xfrm>
        </p:spPr>
        <p:txBody>
          <a:bodyPr/>
          <a:lstStyle/>
          <a:p>
            <a:pPr marL="0" indent="0">
              <a:buNone/>
            </a:pPr>
            <a:r>
              <a:rPr lang="en-GB" dirty="0"/>
              <a:t>Core Question: </a:t>
            </a:r>
            <a:r>
              <a:rPr lang="en-GB" b="1" i="1" dirty="0"/>
              <a:t>Does an active visual sensor significantly improve task performance in 3D environments?</a:t>
            </a:r>
            <a:endParaRPr lang="en-GB" dirty="0"/>
          </a:p>
        </p:txBody>
      </p:sp>
      <p:sp>
        <p:nvSpPr>
          <p:cNvPr id="9" name="Title 1">
            <a:extLst>
              <a:ext uri="{FF2B5EF4-FFF2-40B4-BE49-F238E27FC236}">
                <a16:creationId xmlns:a16="http://schemas.microsoft.com/office/drawing/2014/main" id="{97CDB493-3B29-DB17-94D6-978DD07641E9}"/>
              </a:ext>
            </a:extLst>
          </p:cNvPr>
          <p:cNvSpPr txBox="1">
            <a:spLocks/>
          </p:cNvSpPr>
          <p:nvPr/>
        </p:nvSpPr>
        <p:spPr>
          <a:xfrm>
            <a:off x="838200" y="32098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solidFill>
                  <a:schemeClr val="bg1"/>
                </a:solidFill>
              </a:rPr>
              <a:t>The Problem with Passive Vision</a:t>
            </a:r>
          </a:p>
        </p:txBody>
      </p:sp>
      <p:sp>
        <p:nvSpPr>
          <p:cNvPr id="10" name="Content Placeholder 2">
            <a:extLst>
              <a:ext uri="{FF2B5EF4-FFF2-40B4-BE49-F238E27FC236}">
                <a16:creationId xmlns:a16="http://schemas.microsoft.com/office/drawing/2014/main" id="{0DB75C2B-E23A-C929-8D90-FE1F98B5F1EB}"/>
              </a:ext>
            </a:extLst>
          </p:cNvPr>
          <p:cNvSpPr txBox="1">
            <a:spLocks/>
          </p:cNvSpPr>
          <p:nvPr/>
        </p:nvSpPr>
        <p:spPr>
          <a:xfrm>
            <a:off x="838200" y="2470356"/>
            <a:ext cx="5114925" cy="5025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Standard image processing passes full frames into Convolutional Neural Networks (CNNs) </a:t>
            </a:r>
            <a:r>
              <a:rPr lang="en-GB" sz="2400" i="1" dirty="0"/>
              <a:t>without </a:t>
            </a:r>
            <a:r>
              <a:rPr lang="en-GB" sz="2400" dirty="0"/>
              <a:t>emphasising specific features [2,7]</a:t>
            </a:r>
          </a:p>
          <a:p>
            <a:r>
              <a:rPr lang="en-GB" sz="2400" dirty="0"/>
              <a:t>Traditional perceptions relies on </a:t>
            </a:r>
            <a:r>
              <a:rPr lang="en-GB" sz="2400" i="1" dirty="0"/>
              <a:t>passive, static </a:t>
            </a:r>
            <a:r>
              <a:rPr lang="en-GB" sz="2400" dirty="0"/>
              <a:t>cameras, with fixed fields of view (FOV). [4,7]</a:t>
            </a:r>
          </a:p>
          <a:p>
            <a:r>
              <a:rPr lang="en-GB" sz="2400" dirty="0"/>
              <a:t>This leaves systems vulnerable to occlusions and limits dynamic target tracking [4]</a:t>
            </a:r>
          </a:p>
        </p:txBody>
      </p:sp>
      <p:pic>
        <p:nvPicPr>
          <p:cNvPr id="11" name="Picture 10">
            <a:extLst>
              <a:ext uri="{FF2B5EF4-FFF2-40B4-BE49-F238E27FC236}">
                <a16:creationId xmlns:a16="http://schemas.microsoft.com/office/drawing/2014/main" id="{E6CE9E4C-0D37-583C-ABD4-C583F88B4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985" y="2382682"/>
            <a:ext cx="5961015" cy="4649590"/>
          </a:xfrm>
          <a:prstGeom prst="rect">
            <a:avLst/>
          </a:prstGeom>
        </p:spPr>
      </p:pic>
      <p:sp>
        <p:nvSpPr>
          <p:cNvPr id="12" name="TextBox 11">
            <a:extLst>
              <a:ext uri="{FF2B5EF4-FFF2-40B4-BE49-F238E27FC236}">
                <a16:creationId xmlns:a16="http://schemas.microsoft.com/office/drawing/2014/main" id="{F0B403C9-B3AA-B1FE-C1E3-1D82AF912632}"/>
              </a:ext>
            </a:extLst>
          </p:cNvPr>
          <p:cNvSpPr txBox="1"/>
          <p:nvPr/>
        </p:nvSpPr>
        <p:spPr>
          <a:xfrm>
            <a:off x="597310" y="6528586"/>
            <a:ext cx="5355815" cy="307777"/>
          </a:xfrm>
          <a:prstGeom prst="rect">
            <a:avLst/>
          </a:prstGeom>
          <a:noFill/>
        </p:spPr>
        <p:txBody>
          <a:bodyPr wrap="square" rtlCol="0">
            <a:spAutoFit/>
          </a:bodyPr>
          <a:lstStyle/>
          <a:p>
            <a:r>
              <a:rPr lang="en-GB" sz="1400" dirty="0">
                <a:solidFill>
                  <a:schemeClr val="bg2">
                    <a:lumMod val="75000"/>
                  </a:schemeClr>
                </a:solidFill>
              </a:rPr>
              <a:t>Image credit: [10] Trehan, Shubham &amp; Aakur, Sathyanarayanan</a:t>
            </a:r>
          </a:p>
        </p:txBody>
      </p:sp>
    </p:spTree>
    <p:extLst>
      <p:ext uri="{BB962C8B-B14F-4D97-AF65-F5344CB8AC3E}">
        <p14:creationId xmlns:p14="http://schemas.microsoft.com/office/powerpoint/2010/main" val="68110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7EB02C-8013-9443-79D7-67D0FED6FEEC}"/>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A473E770-22C8-5D70-9913-EFEC7D1A4A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2601" y="3970235"/>
            <a:ext cx="7486798" cy="2887765"/>
          </a:xfrm>
          <a:prstGeom prst="rect">
            <a:avLst/>
          </a:prstGeom>
        </p:spPr>
      </p:pic>
      <p:sp>
        <p:nvSpPr>
          <p:cNvPr id="2" name="Title 1">
            <a:extLst>
              <a:ext uri="{FF2B5EF4-FFF2-40B4-BE49-F238E27FC236}">
                <a16:creationId xmlns:a16="http://schemas.microsoft.com/office/drawing/2014/main" id="{73B33267-4C02-49B2-46D5-A74C3F65FF23}"/>
              </a:ext>
            </a:extLst>
          </p:cNvPr>
          <p:cNvSpPr>
            <a:spLocks noGrp="1"/>
          </p:cNvSpPr>
          <p:nvPr>
            <p:ph type="title"/>
          </p:nvPr>
        </p:nvSpPr>
        <p:spPr>
          <a:xfrm>
            <a:off x="838200" y="281938"/>
            <a:ext cx="10515600" cy="1325563"/>
          </a:xfrm>
        </p:spPr>
        <p:txBody>
          <a:bodyPr/>
          <a:lstStyle/>
          <a:p>
            <a:r>
              <a:rPr lang="en-GB" dirty="0">
                <a:solidFill>
                  <a:schemeClr val="bg1"/>
                </a:solidFill>
              </a:rPr>
              <a:t>The Active Vision Paradigm</a:t>
            </a:r>
          </a:p>
        </p:txBody>
      </p:sp>
      <p:sp>
        <p:nvSpPr>
          <p:cNvPr id="3" name="Content Placeholder 2">
            <a:extLst>
              <a:ext uri="{FF2B5EF4-FFF2-40B4-BE49-F238E27FC236}">
                <a16:creationId xmlns:a16="http://schemas.microsoft.com/office/drawing/2014/main" id="{FC9BEB64-0D74-BB4E-A1F4-980A953DEAB5}"/>
              </a:ext>
            </a:extLst>
          </p:cNvPr>
          <p:cNvSpPr>
            <a:spLocks noGrp="1"/>
          </p:cNvSpPr>
          <p:nvPr>
            <p:ph idx="1"/>
          </p:nvPr>
        </p:nvSpPr>
        <p:spPr>
          <a:xfrm>
            <a:off x="58994" y="1467465"/>
            <a:ext cx="12133006" cy="4255831"/>
          </a:xfrm>
        </p:spPr>
        <p:txBody>
          <a:bodyPr/>
          <a:lstStyle/>
          <a:p>
            <a:r>
              <a:rPr lang="en-GB" dirty="0"/>
              <a:t>Active vision allows an observer to dynamically manipulate its sensory equipment (e.g., a moving camera) [1, 11]</a:t>
            </a:r>
          </a:p>
          <a:p>
            <a:r>
              <a:rPr lang="en-GB" dirty="0"/>
              <a:t>This mirrors the biological “look to act” principles of human visual behaviour [4]</a:t>
            </a:r>
          </a:p>
          <a:p>
            <a:r>
              <a:rPr lang="en-GB" dirty="0"/>
              <a:t>Deep Reinforcement Learning (DRL) allows an agent to map high-dimensional raw pixels directly to motor control [5]</a:t>
            </a:r>
          </a:p>
        </p:txBody>
      </p:sp>
      <p:sp>
        <p:nvSpPr>
          <p:cNvPr id="7" name="TextBox 6">
            <a:extLst>
              <a:ext uri="{FF2B5EF4-FFF2-40B4-BE49-F238E27FC236}">
                <a16:creationId xmlns:a16="http://schemas.microsoft.com/office/drawing/2014/main" id="{9DC2071F-7DD2-CF32-8F3F-9D41A51B7624}"/>
              </a:ext>
            </a:extLst>
          </p:cNvPr>
          <p:cNvSpPr txBox="1"/>
          <p:nvPr/>
        </p:nvSpPr>
        <p:spPr>
          <a:xfrm>
            <a:off x="-88490" y="6447158"/>
            <a:ext cx="4181168" cy="461665"/>
          </a:xfrm>
          <a:prstGeom prst="rect">
            <a:avLst/>
          </a:prstGeom>
          <a:noFill/>
        </p:spPr>
        <p:txBody>
          <a:bodyPr wrap="square" rtlCol="0">
            <a:spAutoFit/>
          </a:bodyPr>
          <a:lstStyle/>
          <a:p>
            <a:r>
              <a:rPr lang="en-GB" sz="1200" dirty="0">
                <a:solidFill>
                  <a:schemeClr val="bg2">
                    <a:lumMod val="75000"/>
                  </a:schemeClr>
                </a:solidFill>
              </a:rPr>
              <a:t>Image credit: [2] </a:t>
            </a:r>
            <a:r>
              <a:rPr lang="en-GB" sz="1200" dirty="0" err="1">
                <a:solidFill>
                  <a:schemeClr val="bg2">
                    <a:lumMod val="75000"/>
                  </a:schemeClr>
                </a:solidFill>
              </a:rPr>
              <a:t>Rabault</a:t>
            </a:r>
            <a:r>
              <a:rPr lang="en-GB" sz="1200" dirty="0">
                <a:solidFill>
                  <a:schemeClr val="bg2">
                    <a:lumMod val="75000"/>
                  </a:schemeClr>
                </a:solidFill>
              </a:rPr>
              <a:t>, J. &amp; Ren, Feng &amp; Zhang, Wei &amp; Tang, Hui &amp; Xu, Hui. (2020). </a:t>
            </a:r>
          </a:p>
        </p:txBody>
      </p:sp>
    </p:spTree>
    <p:extLst>
      <p:ext uri="{BB962C8B-B14F-4D97-AF65-F5344CB8AC3E}">
        <p14:creationId xmlns:p14="http://schemas.microsoft.com/office/powerpoint/2010/main" val="139349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AF2A-5EDE-F05A-DB78-383379BA7D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FABA03-F73B-E8F9-8882-FBFD19D16DAD}"/>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839972D-594A-2ECA-6EC7-9E85DE6A86C2}"/>
              </a:ext>
            </a:extLst>
          </p:cNvPr>
          <p:cNvSpPr>
            <a:spLocks noGrp="1"/>
          </p:cNvSpPr>
          <p:nvPr>
            <p:ph type="title"/>
          </p:nvPr>
        </p:nvSpPr>
        <p:spPr/>
        <p:txBody>
          <a:bodyPr/>
          <a:lstStyle/>
          <a:p>
            <a:r>
              <a:rPr lang="en-GB" dirty="0">
                <a:solidFill>
                  <a:schemeClr val="bg1"/>
                </a:solidFill>
              </a:rPr>
              <a:t>Methodology: The Foveal Bottleneck</a:t>
            </a:r>
          </a:p>
        </p:txBody>
      </p:sp>
      <p:sp>
        <p:nvSpPr>
          <p:cNvPr id="3" name="Content Placeholder 2">
            <a:extLst>
              <a:ext uri="{FF2B5EF4-FFF2-40B4-BE49-F238E27FC236}">
                <a16:creationId xmlns:a16="http://schemas.microsoft.com/office/drawing/2014/main" id="{86F5FB62-45B2-A9AA-0032-D5AD2AA8373D}"/>
              </a:ext>
            </a:extLst>
          </p:cNvPr>
          <p:cNvSpPr>
            <a:spLocks noGrp="1"/>
          </p:cNvSpPr>
          <p:nvPr>
            <p:ph idx="1"/>
          </p:nvPr>
        </p:nvSpPr>
        <p:spPr/>
        <p:txBody>
          <a:bodyPr>
            <a:normAutofit fontScale="92500" lnSpcReduction="10000"/>
          </a:bodyPr>
          <a:lstStyle/>
          <a:p>
            <a:r>
              <a:rPr lang="en-GB" b="1" dirty="0"/>
              <a:t>Control</a:t>
            </a:r>
            <a:r>
              <a:rPr lang="en-GB" dirty="0"/>
              <a:t>: A ‘baseline’ model that receives no modifications to its FOV (receives full 160x120 image)</a:t>
            </a:r>
          </a:p>
          <a:p>
            <a:r>
              <a:rPr lang="en-GB" dirty="0"/>
              <a:t>The ‘Active’ model is subjected to a strict informational “bottleneck”, simulating a foveal sensor</a:t>
            </a:r>
          </a:p>
          <a:p>
            <a:r>
              <a:rPr lang="en-GB" dirty="0"/>
              <a:t>The observation space (all that can be possibly perceived) undergoes an aggressive centre-crop</a:t>
            </a:r>
          </a:p>
          <a:p>
            <a:r>
              <a:rPr lang="en-GB" dirty="0"/>
              <a:t>The crop is then rescaled back to the baseline dimensions (160x120) using bilinear interpolation</a:t>
            </a:r>
          </a:p>
          <a:p>
            <a:pPr marL="0" indent="0">
              <a:buNone/>
            </a:pPr>
            <a:endParaRPr lang="en-GB" dirty="0"/>
          </a:p>
          <a:p>
            <a:r>
              <a:rPr lang="en-GB" b="1" dirty="0"/>
              <a:t>Control Mechanism: </a:t>
            </a:r>
            <a:r>
              <a:rPr lang="en-GB" dirty="0"/>
              <a:t>Ensures identical parameter counts between the baseline and active CNN architectures</a:t>
            </a:r>
            <a:endParaRPr lang="en-GB" b="1" dirty="0"/>
          </a:p>
        </p:txBody>
      </p:sp>
    </p:spTree>
    <p:extLst>
      <p:ext uri="{BB962C8B-B14F-4D97-AF65-F5344CB8AC3E}">
        <p14:creationId xmlns:p14="http://schemas.microsoft.com/office/powerpoint/2010/main" val="379913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02A91-CE86-EC8C-5D2E-3B79245828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7F5D5D-6126-5A73-1027-5D7999AB439B}"/>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C96461C-6FAE-6525-970E-CD7FD90E57A5}"/>
              </a:ext>
            </a:extLst>
          </p:cNvPr>
          <p:cNvSpPr>
            <a:spLocks noGrp="1"/>
          </p:cNvSpPr>
          <p:nvPr>
            <p:ph type="title"/>
          </p:nvPr>
        </p:nvSpPr>
        <p:spPr/>
        <p:txBody>
          <a:bodyPr/>
          <a:lstStyle/>
          <a:p>
            <a:r>
              <a:rPr lang="en-GB" dirty="0">
                <a:solidFill>
                  <a:schemeClr val="bg1"/>
                </a:solidFill>
              </a:rPr>
              <a:t>Methodology: Reduced Rescaled FOVs</a:t>
            </a:r>
          </a:p>
        </p:txBody>
      </p:sp>
      <p:pic>
        <p:nvPicPr>
          <p:cNvPr id="8" name="Picture 7">
            <a:extLst>
              <a:ext uri="{FF2B5EF4-FFF2-40B4-BE49-F238E27FC236}">
                <a16:creationId xmlns:a16="http://schemas.microsoft.com/office/drawing/2014/main" id="{155597AE-C7A4-DDD5-A8D9-45E243FC36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90688"/>
            <a:ext cx="12192000" cy="4440329"/>
          </a:xfrm>
          <a:prstGeom prst="rect">
            <a:avLst/>
          </a:prstGeom>
        </p:spPr>
      </p:pic>
    </p:spTree>
    <p:extLst>
      <p:ext uri="{BB962C8B-B14F-4D97-AF65-F5344CB8AC3E}">
        <p14:creationId xmlns:p14="http://schemas.microsoft.com/office/powerpoint/2010/main" val="850675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C8A01-5B6B-23D2-046D-30D5582034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F26212-E870-E83B-2B5F-56A74448869D}"/>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E65A9B7-9E41-122F-E4A0-4F3CA4D68083}"/>
              </a:ext>
            </a:extLst>
          </p:cNvPr>
          <p:cNvSpPr>
            <a:spLocks noGrp="1"/>
          </p:cNvSpPr>
          <p:nvPr>
            <p:ph type="title"/>
          </p:nvPr>
        </p:nvSpPr>
        <p:spPr/>
        <p:txBody>
          <a:bodyPr/>
          <a:lstStyle/>
          <a:p>
            <a:r>
              <a:rPr lang="en-GB" dirty="0">
                <a:solidFill>
                  <a:schemeClr val="bg1"/>
                </a:solidFill>
              </a:rPr>
              <a:t>Methodology: Reduced Rescaled FOVs</a:t>
            </a:r>
          </a:p>
        </p:txBody>
      </p:sp>
      <p:pic>
        <p:nvPicPr>
          <p:cNvPr id="8" name="Picture 7">
            <a:extLst>
              <a:ext uri="{FF2B5EF4-FFF2-40B4-BE49-F238E27FC236}">
                <a16:creationId xmlns:a16="http://schemas.microsoft.com/office/drawing/2014/main" id="{5D058E9B-D9B1-34FC-CFA4-3F58493B7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90688"/>
            <a:ext cx="12192000" cy="4440329"/>
          </a:xfrm>
          <a:prstGeom prst="rect">
            <a:avLst/>
          </a:prstGeom>
        </p:spPr>
      </p:pic>
      <p:pic>
        <p:nvPicPr>
          <p:cNvPr id="5" name="Picture 4">
            <a:extLst>
              <a:ext uri="{FF2B5EF4-FFF2-40B4-BE49-F238E27FC236}">
                <a16:creationId xmlns:a16="http://schemas.microsoft.com/office/drawing/2014/main" id="{C33381A9-A929-D0B8-C8F0-FC79D21BDE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67465"/>
            <a:ext cx="12192000" cy="5104600"/>
          </a:xfrm>
          <a:prstGeom prst="rect">
            <a:avLst/>
          </a:prstGeom>
        </p:spPr>
      </p:pic>
    </p:spTree>
    <p:extLst>
      <p:ext uri="{BB962C8B-B14F-4D97-AF65-F5344CB8AC3E}">
        <p14:creationId xmlns:p14="http://schemas.microsoft.com/office/powerpoint/2010/main" val="447728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DA1AB-C569-2FDA-A7B0-5FF3D3EFEB6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5E68738-0B4D-476D-A76E-B3008D70A88A}"/>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910931D-3F0A-A621-2DEE-BD4EA68DDB8A}"/>
              </a:ext>
            </a:extLst>
          </p:cNvPr>
          <p:cNvSpPr>
            <a:spLocks noGrp="1"/>
          </p:cNvSpPr>
          <p:nvPr>
            <p:ph type="title"/>
          </p:nvPr>
        </p:nvSpPr>
        <p:spPr/>
        <p:txBody>
          <a:bodyPr/>
          <a:lstStyle/>
          <a:p>
            <a:r>
              <a:rPr lang="en-GB" dirty="0">
                <a:solidFill>
                  <a:schemeClr val="bg1"/>
                </a:solidFill>
              </a:rPr>
              <a:t>Methodology: Reduced Rescaled FOVs</a:t>
            </a:r>
          </a:p>
        </p:txBody>
      </p:sp>
      <p:pic>
        <p:nvPicPr>
          <p:cNvPr id="5" name="Picture 4">
            <a:extLst>
              <a:ext uri="{FF2B5EF4-FFF2-40B4-BE49-F238E27FC236}">
                <a16:creationId xmlns:a16="http://schemas.microsoft.com/office/drawing/2014/main" id="{B0F8FBCB-3F9A-0AD3-B412-63AC9DE94F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90688"/>
            <a:ext cx="12192000" cy="4437722"/>
          </a:xfrm>
          <a:prstGeom prst="rect">
            <a:avLst/>
          </a:prstGeom>
        </p:spPr>
      </p:pic>
    </p:spTree>
    <p:extLst>
      <p:ext uri="{BB962C8B-B14F-4D97-AF65-F5344CB8AC3E}">
        <p14:creationId xmlns:p14="http://schemas.microsoft.com/office/powerpoint/2010/main" val="3847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64175-0AFA-FC4E-7F99-FD0922F593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C7E5BD-7410-7BEE-33F0-6FA41B8AC548}"/>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B485C52-5410-95DD-9063-D9CCAE85C5A1}"/>
              </a:ext>
            </a:extLst>
          </p:cNvPr>
          <p:cNvSpPr>
            <a:spLocks noGrp="1"/>
          </p:cNvSpPr>
          <p:nvPr>
            <p:ph type="title"/>
          </p:nvPr>
        </p:nvSpPr>
        <p:spPr/>
        <p:txBody>
          <a:bodyPr/>
          <a:lstStyle/>
          <a:p>
            <a:r>
              <a:rPr lang="en-GB" dirty="0">
                <a:solidFill>
                  <a:schemeClr val="bg1"/>
                </a:solidFill>
              </a:rPr>
              <a:t>Methodology: Reduced Rescaled FOVs</a:t>
            </a:r>
          </a:p>
        </p:txBody>
      </p:sp>
      <p:pic>
        <p:nvPicPr>
          <p:cNvPr id="6" name="Picture 5">
            <a:extLst>
              <a:ext uri="{FF2B5EF4-FFF2-40B4-BE49-F238E27FC236}">
                <a16:creationId xmlns:a16="http://schemas.microsoft.com/office/drawing/2014/main" id="{52995E9E-A224-F559-99B2-5FECDD4DF0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91075"/>
            <a:ext cx="12192000" cy="5104600"/>
          </a:xfrm>
          <a:prstGeom prst="rect">
            <a:avLst/>
          </a:prstGeom>
        </p:spPr>
      </p:pic>
    </p:spTree>
    <p:extLst>
      <p:ext uri="{BB962C8B-B14F-4D97-AF65-F5344CB8AC3E}">
        <p14:creationId xmlns:p14="http://schemas.microsoft.com/office/powerpoint/2010/main" val="761928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A792-B06C-AE20-9FE2-03C77B323E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3BD527-7457-E1F8-F841-05E0CE5C2AAA}"/>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B762509-B20A-2C26-A35B-E9E9D2D240E4}"/>
              </a:ext>
            </a:extLst>
          </p:cNvPr>
          <p:cNvSpPr>
            <a:spLocks noGrp="1"/>
          </p:cNvSpPr>
          <p:nvPr>
            <p:ph type="title"/>
          </p:nvPr>
        </p:nvSpPr>
        <p:spPr/>
        <p:txBody>
          <a:bodyPr/>
          <a:lstStyle/>
          <a:p>
            <a:r>
              <a:rPr lang="en-GB" dirty="0">
                <a:solidFill>
                  <a:schemeClr val="bg1"/>
                </a:solidFill>
              </a:rPr>
              <a:t>Implementation</a:t>
            </a:r>
          </a:p>
        </p:txBody>
      </p:sp>
      <p:sp>
        <p:nvSpPr>
          <p:cNvPr id="3" name="Content Placeholder 2">
            <a:extLst>
              <a:ext uri="{FF2B5EF4-FFF2-40B4-BE49-F238E27FC236}">
                <a16:creationId xmlns:a16="http://schemas.microsoft.com/office/drawing/2014/main" id="{1C8CA87F-05EF-3372-C218-345D83108B98}"/>
              </a:ext>
            </a:extLst>
          </p:cNvPr>
          <p:cNvSpPr>
            <a:spLocks noGrp="1"/>
          </p:cNvSpPr>
          <p:nvPr>
            <p:ph idx="1"/>
          </p:nvPr>
        </p:nvSpPr>
        <p:spPr/>
        <p:txBody>
          <a:bodyPr/>
          <a:lstStyle/>
          <a:p>
            <a:r>
              <a:rPr lang="en-GB" b="1" dirty="0" err="1"/>
              <a:t>ViZDoom</a:t>
            </a:r>
            <a:r>
              <a:rPr lang="en-GB" b="1" dirty="0"/>
              <a:t>: </a:t>
            </a:r>
            <a:r>
              <a:rPr lang="en-GB" dirty="0"/>
              <a:t>A 3D AI research platform providing raw-pixel input and partial observability [3]</a:t>
            </a:r>
          </a:p>
          <a:p>
            <a:r>
              <a:rPr lang="en-GB" b="1" dirty="0"/>
              <a:t>Gymnasium API: </a:t>
            </a:r>
            <a:r>
              <a:rPr lang="en-GB" dirty="0"/>
              <a:t>Standardises the RL environment interfaces [8]</a:t>
            </a:r>
          </a:p>
          <a:p>
            <a:r>
              <a:rPr lang="en-GB" b="1" dirty="0"/>
              <a:t>Stable-Baselines3: </a:t>
            </a:r>
            <a:r>
              <a:rPr lang="en-GB" dirty="0"/>
              <a:t>Implements Proximal Policy Optimisation (PPO) [9]</a:t>
            </a:r>
          </a:p>
          <a:p>
            <a:r>
              <a:rPr lang="en-GB" b="1" dirty="0"/>
              <a:t>PPO </a:t>
            </a:r>
            <a:r>
              <a:rPr lang="en-GB" dirty="0"/>
              <a:t>utilises an Actor-Critic architecture and clipped probability ratios to ensure stable training (learning)</a:t>
            </a:r>
            <a:endParaRPr lang="en-GB" b="1" dirty="0"/>
          </a:p>
        </p:txBody>
      </p:sp>
    </p:spTree>
    <p:extLst>
      <p:ext uri="{BB962C8B-B14F-4D97-AF65-F5344CB8AC3E}">
        <p14:creationId xmlns:p14="http://schemas.microsoft.com/office/powerpoint/2010/main" val="2236884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2EE9E-07C9-5C5C-23FD-EC5712328B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6CFFA9-5999-E859-D2D1-FE9551487E62}"/>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8B0332DC-A11E-5D76-253A-6A3E3CFA8AB0}"/>
              </a:ext>
            </a:extLst>
          </p:cNvPr>
          <p:cNvSpPr>
            <a:spLocks noGrp="1"/>
          </p:cNvSpPr>
          <p:nvPr>
            <p:ph type="title"/>
          </p:nvPr>
        </p:nvSpPr>
        <p:spPr/>
        <p:txBody>
          <a:bodyPr/>
          <a:lstStyle/>
          <a:p>
            <a:r>
              <a:rPr lang="en-GB" dirty="0">
                <a:solidFill>
                  <a:schemeClr val="bg1"/>
                </a:solidFill>
              </a:rPr>
              <a:t>Scenario Design &amp; Evaluation Pipeline</a:t>
            </a:r>
          </a:p>
        </p:txBody>
      </p:sp>
      <p:sp>
        <p:nvSpPr>
          <p:cNvPr id="3" name="Content Placeholder 2">
            <a:extLst>
              <a:ext uri="{FF2B5EF4-FFF2-40B4-BE49-F238E27FC236}">
                <a16:creationId xmlns:a16="http://schemas.microsoft.com/office/drawing/2014/main" id="{5FD59795-0553-9AFD-D953-EFAA84AF2B30}"/>
              </a:ext>
            </a:extLst>
          </p:cNvPr>
          <p:cNvSpPr>
            <a:spLocks noGrp="1"/>
          </p:cNvSpPr>
          <p:nvPr>
            <p:ph idx="1"/>
          </p:nvPr>
        </p:nvSpPr>
        <p:spPr/>
        <p:txBody>
          <a:bodyPr/>
          <a:lstStyle/>
          <a:p>
            <a:r>
              <a:rPr lang="en-GB" dirty="0"/>
              <a:t>A custom “Cacodemon Recognition” scenario was developed using Action Code Script (ACS) for dynamic randomisation of enemy placement</a:t>
            </a:r>
          </a:p>
          <a:p>
            <a:r>
              <a:rPr lang="en-GB" b="1" dirty="0"/>
              <a:t>Level 1 (Basic): </a:t>
            </a:r>
            <a:r>
              <a:rPr lang="en-GB" dirty="0"/>
              <a:t>A sterile control map for training visuomotor mapping</a:t>
            </a:r>
          </a:p>
          <a:p>
            <a:r>
              <a:rPr lang="en-GB" b="1" dirty="0"/>
              <a:t>Level 2 (Intermediate): </a:t>
            </a:r>
            <a:r>
              <a:rPr lang="en-GB" dirty="0"/>
              <a:t>Introduces visual clutter and non-target distractors</a:t>
            </a:r>
          </a:p>
          <a:p>
            <a:r>
              <a:rPr lang="en-GB" b="1" dirty="0"/>
              <a:t>Level 3 (Final): </a:t>
            </a:r>
            <a:r>
              <a:rPr lang="en-GB" dirty="0"/>
              <a:t>Unseen geometry and novel enemy types to test zero-shot generalisation (i.e. how well it performs on an unseen task)</a:t>
            </a:r>
            <a:endParaRPr lang="en-GB" b="1" dirty="0"/>
          </a:p>
        </p:txBody>
      </p:sp>
    </p:spTree>
    <p:extLst>
      <p:ext uri="{BB962C8B-B14F-4D97-AF65-F5344CB8AC3E}">
        <p14:creationId xmlns:p14="http://schemas.microsoft.com/office/powerpoint/2010/main" val="1142720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76B0D-98E9-A6A3-45BC-DC568CA5FC8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041E417-7996-11B6-4742-0597D681437C}"/>
              </a:ext>
            </a:extLst>
          </p:cNvPr>
          <p:cNvSpPr/>
          <p:nvPr/>
        </p:nvSpPr>
        <p:spPr>
          <a:xfrm>
            <a:off x="0" y="0"/>
            <a:ext cx="12192000" cy="917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106076E-AE82-26A8-97C6-309ED56C9AF3}"/>
              </a:ext>
            </a:extLst>
          </p:cNvPr>
          <p:cNvSpPr>
            <a:spLocks noGrp="1"/>
          </p:cNvSpPr>
          <p:nvPr>
            <p:ph type="title"/>
          </p:nvPr>
        </p:nvSpPr>
        <p:spPr>
          <a:xfrm>
            <a:off x="485468" y="-165817"/>
            <a:ext cx="10515600" cy="1325563"/>
          </a:xfrm>
        </p:spPr>
        <p:txBody>
          <a:bodyPr/>
          <a:lstStyle/>
          <a:p>
            <a:r>
              <a:rPr lang="en-GB" dirty="0">
                <a:solidFill>
                  <a:schemeClr val="bg1"/>
                </a:solidFill>
              </a:rPr>
              <a:t>Level 1</a:t>
            </a:r>
          </a:p>
        </p:txBody>
      </p:sp>
      <p:pic>
        <p:nvPicPr>
          <p:cNvPr id="6" name="Picture 5">
            <a:extLst>
              <a:ext uri="{FF2B5EF4-FFF2-40B4-BE49-F238E27FC236}">
                <a16:creationId xmlns:a16="http://schemas.microsoft.com/office/drawing/2014/main" id="{6270EB0A-D06A-9040-A79E-418DDC123E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7815"/>
            <a:ext cx="12192000" cy="5940185"/>
          </a:xfrm>
          <a:prstGeom prst="rect">
            <a:avLst/>
          </a:prstGeom>
        </p:spPr>
      </p:pic>
    </p:spTree>
    <p:extLst>
      <p:ext uri="{BB962C8B-B14F-4D97-AF65-F5344CB8AC3E}">
        <p14:creationId xmlns:p14="http://schemas.microsoft.com/office/powerpoint/2010/main" val="1289596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6B2B-348C-B06E-5F39-89C839EFD17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08D219-A87C-948D-48C8-C0C1B22F20C9}"/>
              </a:ext>
            </a:extLst>
          </p:cNvPr>
          <p:cNvSpPr/>
          <p:nvPr/>
        </p:nvSpPr>
        <p:spPr>
          <a:xfrm>
            <a:off x="0" y="0"/>
            <a:ext cx="12192000" cy="917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28588EE-CA79-13DC-7E76-5F5E75FB8AEA}"/>
              </a:ext>
            </a:extLst>
          </p:cNvPr>
          <p:cNvSpPr>
            <a:spLocks noGrp="1"/>
          </p:cNvSpPr>
          <p:nvPr>
            <p:ph type="title"/>
          </p:nvPr>
        </p:nvSpPr>
        <p:spPr>
          <a:xfrm>
            <a:off x="485468" y="-165817"/>
            <a:ext cx="10515600" cy="1325563"/>
          </a:xfrm>
        </p:spPr>
        <p:txBody>
          <a:bodyPr/>
          <a:lstStyle/>
          <a:p>
            <a:r>
              <a:rPr lang="en-GB" dirty="0">
                <a:solidFill>
                  <a:schemeClr val="bg1"/>
                </a:solidFill>
              </a:rPr>
              <a:t>Level 2</a:t>
            </a:r>
          </a:p>
        </p:txBody>
      </p:sp>
      <p:pic>
        <p:nvPicPr>
          <p:cNvPr id="5" name="Picture 4">
            <a:extLst>
              <a:ext uri="{FF2B5EF4-FFF2-40B4-BE49-F238E27FC236}">
                <a16:creationId xmlns:a16="http://schemas.microsoft.com/office/drawing/2014/main" id="{F39BFA44-215C-9916-09E3-5A00098D51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7815"/>
            <a:ext cx="12192000" cy="6359663"/>
          </a:xfrm>
          <a:prstGeom prst="rect">
            <a:avLst/>
          </a:prstGeom>
        </p:spPr>
      </p:pic>
    </p:spTree>
    <p:extLst>
      <p:ext uri="{BB962C8B-B14F-4D97-AF65-F5344CB8AC3E}">
        <p14:creationId xmlns:p14="http://schemas.microsoft.com/office/powerpoint/2010/main" val="836089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D69E1-824D-48CC-5761-0445B92724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A19F01E-1799-24E4-6C82-3B3EAAB3372A}"/>
              </a:ext>
            </a:extLst>
          </p:cNvPr>
          <p:cNvSpPr/>
          <p:nvPr/>
        </p:nvSpPr>
        <p:spPr>
          <a:xfrm>
            <a:off x="0" y="0"/>
            <a:ext cx="12192000" cy="917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6B9AEE9-F41A-0C8D-29CD-12B453B2C12C}"/>
              </a:ext>
            </a:extLst>
          </p:cNvPr>
          <p:cNvSpPr>
            <a:spLocks noGrp="1"/>
          </p:cNvSpPr>
          <p:nvPr>
            <p:ph type="title"/>
          </p:nvPr>
        </p:nvSpPr>
        <p:spPr>
          <a:xfrm>
            <a:off x="485468" y="-165817"/>
            <a:ext cx="10515600" cy="1325563"/>
          </a:xfrm>
        </p:spPr>
        <p:txBody>
          <a:bodyPr/>
          <a:lstStyle/>
          <a:p>
            <a:r>
              <a:rPr lang="en-GB" dirty="0">
                <a:solidFill>
                  <a:schemeClr val="bg1"/>
                </a:solidFill>
              </a:rPr>
              <a:t>Level 3 </a:t>
            </a:r>
          </a:p>
        </p:txBody>
      </p:sp>
      <p:pic>
        <p:nvPicPr>
          <p:cNvPr id="6" name="Picture 5">
            <a:extLst>
              <a:ext uri="{FF2B5EF4-FFF2-40B4-BE49-F238E27FC236}">
                <a16:creationId xmlns:a16="http://schemas.microsoft.com/office/drawing/2014/main" id="{D35AC415-CE6B-4F23-7C78-B36022B02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7815"/>
            <a:ext cx="12192000" cy="6372369"/>
          </a:xfrm>
          <a:prstGeom prst="rect">
            <a:avLst/>
          </a:prstGeom>
        </p:spPr>
      </p:pic>
    </p:spTree>
    <p:extLst>
      <p:ext uri="{BB962C8B-B14F-4D97-AF65-F5344CB8AC3E}">
        <p14:creationId xmlns:p14="http://schemas.microsoft.com/office/powerpoint/2010/main" val="140766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EBB48-F86E-F099-B3E1-EAB0B2E5B0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144EEC-0744-FA42-8E5C-02306705C21F}"/>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B73F5A9-18A5-715B-46F0-F4F65E68E0E8}"/>
              </a:ext>
            </a:extLst>
          </p:cNvPr>
          <p:cNvSpPr>
            <a:spLocks noGrp="1"/>
          </p:cNvSpPr>
          <p:nvPr>
            <p:ph type="title"/>
          </p:nvPr>
        </p:nvSpPr>
        <p:spPr/>
        <p:txBody>
          <a:bodyPr/>
          <a:lstStyle/>
          <a:p>
            <a:r>
              <a:rPr lang="en-GB" dirty="0">
                <a:solidFill>
                  <a:schemeClr val="bg1"/>
                </a:solidFill>
              </a:rPr>
              <a:t>Cacodemon Recognition: Enemies List</a:t>
            </a:r>
          </a:p>
        </p:txBody>
      </p:sp>
      <p:pic>
        <p:nvPicPr>
          <p:cNvPr id="6" name="Picture 5">
            <a:extLst>
              <a:ext uri="{FF2B5EF4-FFF2-40B4-BE49-F238E27FC236}">
                <a16:creationId xmlns:a16="http://schemas.microsoft.com/office/drawing/2014/main" id="{C29BA887-B9C6-0CE6-E771-074812682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3041" y="4270990"/>
            <a:ext cx="1812422" cy="1950166"/>
          </a:xfrm>
          <a:prstGeom prst="rect">
            <a:avLst/>
          </a:prstGeom>
        </p:spPr>
      </p:pic>
      <p:pic>
        <p:nvPicPr>
          <p:cNvPr id="8" name="Picture 7">
            <a:extLst>
              <a:ext uri="{FF2B5EF4-FFF2-40B4-BE49-F238E27FC236}">
                <a16:creationId xmlns:a16="http://schemas.microsoft.com/office/drawing/2014/main" id="{C8B5ED3E-9743-D404-AAD9-8536599D82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1117" y="1149798"/>
            <a:ext cx="3457959" cy="3457959"/>
          </a:xfrm>
          <a:prstGeom prst="rect">
            <a:avLst/>
          </a:prstGeom>
        </p:spPr>
      </p:pic>
      <p:pic>
        <p:nvPicPr>
          <p:cNvPr id="10" name="Picture 9">
            <a:extLst>
              <a:ext uri="{FF2B5EF4-FFF2-40B4-BE49-F238E27FC236}">
                <a16:creationId xmlns:a16="http://schemas.microsoft.com/office/drawing/2014/main" id="{6146A278-ECC1-5E8F-8798-AE61313A4A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0276" y="4066866"/>
            <a:ext cx="2782530" cy="2782530"/>
          </a:xfrm>
          <a:prstGeom prst="rect">
            <a:avLst/>
          </a:prstGeom>
        </p:spPr>
      </p:pic>
      <p:pic>
        <p:nvPicPr>
          <p:cNvPr id="12" name="Picture 11">
            <a:extLst>
              <a:ext uri="{FF2B5EF4-FFF2-40B4-BE49-F238E27FC236}">
                <a16:creationId xmlns:a16="http://schemas.microsoft.com/office/drawing/2014/main" id="{6583F443-436E-BB2A-BBE6-11D825126E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7066" y="1783402"/>
            <a:ext cx="2085975" cy="2190750"/>
          </a:xfrm>
          <a:prstGeom prst="rect">
            <a:avLst/>
          </a:prstGeom>
        </p:spPr>
      </p:pic>
      <p:pic>
        <p:nvPicPr>
          <p:cNvPr id="14" name="Picture 13">
            <a:extLst>
              <a:ext uri="{FF2B5EF4-FFF2-40B4-BE49-F238E27FC236}">
                <a16:creationId xmlns:a16="http://schemas.microsoft.com/office/drawing/2014/main" id="{6B246B88-2856-8E97-FB83-6ED65CC424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6082" y="1745738"/>
            <a:ext cx="2438400" cy="2438400"/>
          </a:xfrm>
          <a:prstGeom prst="rect">
            <a:avLst/>
          </a:prstGeom>
        </p:spPr>
      </p:pic>
      <p:sp>
        <p:nvSpPr>
          <p:cNvPr id="15" name="TextBox 14">
            <a:extLst>
              <a:ext uri="{FF2B5EF4-FFF2-40B4-BE49-F238E27FC236}">
                <a16:creationId xmlns:a16="http://schemas.microsoft.com/office/drawing/2014/main" id="{E39478D1-20F5-88FB-9BC3-DC519CD01116}"/>
              </a:ext>
            </a:extLst>
          </p:cNvPr>
          <p:cNvSpPr txBox="1"/>
          <p:nvPr/>
        </p:nvSpPr>
        <p:spPr>
          <a:xfrm>
            <a:off x="1035230" y="4238425"/>
            <a:ext cx="2059858" cy="369332"/>
          </a:xfrm>
          <a:prstGeom prst="rect">
            <a:avLst/>
          </a:prstGeom>
          <a:noFill/>
        </p:spPr>
        <p:txBody>
          <a:bodyPr wrap="square" rtlCol="0">
            <a:spAutoFit/>
          </a:bodyPr>
          <a:lstStyle/>
          <a:p>
            <a:r>
              <a:rPr lang="en-GB" dirty="0"/>
              <a:t>The Cyberdemon</a:t>
            </a:r>
          </a:p>
        </p:txBody>
      </p:sp>
      <p:sp>
        <p:nvSpPr>
          <p:cNvPr id="16" name="TextBox 15">
            <a:extLst>
              <a:ext uri="{FF2B5EF4-FFF2-40B4-BE49-F238E27FC236}">
                <a16:creationId xmlns:a16="http://schemas.microsoft.com/office/drawing/2014/main" id="{62189731-D611-18E5-3598-122A13583709}"/>
              </a:ext>
            </a:extLst>
          </p:cNvPr>
          <p:cNvSpPr txBox="1"/>
          <p:nvPr/>
        </p:nvSpPr>
        <p:spPr>
          <a:xfrm>
            <a:off x="2964810" y="6378713"/>
            <a:ext cx="2059858" cy="369332"/>
          </a:xfrm>
          <a:prstGeom prst="rect">
            <a:avLst/>
          </a:prstGeom>
          <a:noFill/>
        </p:spPr>
        <p:txBody>
          <a:bodyPr wrap="square" rtlCol="0">
            <a:spAutoFit/>
          </a:bodyPr>
          <a:lstStyle/>
          <a:p>
            <a:r>
              <a:rPr lang="en-GB" dirty="0"/>
              <a:t>The Zombieman</a:t>
            </a:r>
          </a:p>
        </p:txBody>
      </p:sp>
      <p:sp>
        <p:nvSpPr>
          <p:cNvPr id="17" name="TextBox 16">
            <a:extLst>
              <a:ext uri="{FF2B5EF4-FFF2-40B4-BE49-F238E27FC236}">
                <a16:creationId xmlns:a16="http://schemas.microsoft.com/office/drawing/2014/main" id="{C25DE699-6DB9-3913-4E3F-DD8DCD022E6E}"/>
              </a:ext>
            </a:extLst>
          </p:cNvPr>
          <p:cNvSpPr txBox="1"/>
          <p:nvPr/>
        </p:nvSpPr>
        <p:spPr>
          <a:xfrm>
            <a:off x="4889541" y="4082117"/>
            <a:ext cx="2059858" cy="369332"/>
          </a:xfrm>
          <a:prstGeom prst="rect">
            <a:avLst/>
          </a:prstGeom>
          <a:noFill/>
        </p:spPr>
        <p:txBody>
          <a:bodyPr wrap="square" rtlCol="0">
            <a:spAutoFit/>
          </a:bodyPr>
          <a:lstStyle/>
          <a:p>
            <a:r>
              <a:rPr lang="en-GB" dirty="0"/>
              <a:t>The Cacodemon</a:t>
            </a:r>
          </a:p>
        </p:txBody>
      </p:sp>
      <p:sp>
        <p:nvSpPr>
          <p:cNvPr id="18" name="TextBox 17">
            <a:extLst>
              <a:ext uri="{FF2B5EF4-FFF2-40B4-BE49-F238E27FC236}">
                <a16:creationId xmlns:a16="http://schemas.microsoft.com/office/drawing/2014/main" id="{3F21B559-3F6D-3C2D-82A1-15BB2CEE3DA7}"/>
              </a:ext>
            </a:extLst>
          </p:cNvPr>
          <p:cNvSpPr txBox="1"/>
          <p:nvPr/>
        </p:nvSpPr>
        <p:spPr>
          <a:xfrm>
            <a:off x="6949399" y="6308209"/>
            <a:ext cx="2059858" cy="369332"/>
          </a:xfrm>
          <a:prstGeom prst="rect">
            <a:avLst/>
          </a:prstGeom>
          <a:noFill/>
        </p:spPr>
        <p:txBody>
          <a:bodyPr wrap="square" rtlCol="0">
            <a:spAutoFit/>
          </a:bodyPr>
          <a:lstStyle/>
          <a:p>
            <a:r>
              <a:rPr lang="en-GB" dirty="0"/>
              <a:t>The Lost Soul</a:t>
            </a:r>
          </a:p>
        </p:txBody>
      </p:sp>
      <p:sp>
        <p:nvSpPr>
          <p:cNvPr id="19" name="TextBox 18">
            <a:extLst>
              <a:ext uri="{FF2B5EF4-FFF2-40B4-BE49-F238E27FC236}">
                <a16:creationId xmlns:a16="http://schemas.microsoft.com/office/drawing/2014/main" id="{ACFF53A7-4A48-00CD-2186-893DD226E7F1}"/>
              </a:ext>
            </a:extLst>
          </p:cNvPr>
          <p:cNvSpPr txBox="1"/>
          <p:nvPr/>
        </p:nvSpPr>
        <p:spPr>
          <a:xfrm>
            <a:off x="8634445" y="4066866"/>
            <a:ext cx="2441594" cy="369332"/>
          </a:xfrm>
          <a:prstGeom prst="rect">
            <a:avLst/>
          </a:prstGeom>
          <a:noFill/>
        </p:spPr>
        <p:txBody>
          <a:bodyPr wrap="square" rtlCol="0">
            <a:spAutoFit/>
          </a:bodyPr>
          <a:lstStyle/>
          <a:p>
            <a:r>
              <a:rPr lang="en-GB" dirty="0"/>
              <a:t>The Pain Elemental</a:t>
            </a:r>
          </a:p>
        </p:txBody>
      </p:sp>
    </p:spTree>
    <p:extLst>
      <p:ext uri="{BB962C8B-B14F-4D97-AF65-F5344CB8AC3E}">
        <p14:creationId xmlns:p14="http://schemas.microsoft.com/office/powerpoint/2010/main" val="1803640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90B88-78E0-81F2-74F7-6BE8BDBA4AA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BD6BD1-DFD3-2906-5239-8449AB0AB72E}"/>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CEDDF73-2814-5E1A-7976-44CE7819F807}"/>
              </a:ext>
            </a:extLst>
          </p:cNvPr>
          <p:cNvSpPr>
            <a:spLocks noGrp="1"/>
          </p:cNvSpPr>
          <p:nvPr>
            <p:ph type="title"/>
          </p:nvPr>
        </p:nvSpPr>
        <p:spPr/>
        <p:txBody>
          <a:bodyPr/>
          <a:lstStyle/>
          <a:p>
            <a:r>
              <a:rPr lang="en-GB" dirty="0">
                <a:solidFill>
                  <a:schemeClr val="bg1"/>
                </a:solidFill>
              </a:rPr>
              <a:t>Reward Engineering: Training</a:t>
            </a:r>
          </a:p>
        </p:txBody>
      </p:sp>
      <p:sp>
        <p:nvSpPr>
          <p:cNvPr id="3" name="Content Placeholder 2">
            <a:extLst>
              <a:ext uri="{FF2B5EF4-FFF2-40B4-BE49-F238E27FC236}">
                <a16:creationId xmlns:a16="http://schemas.microsoft.com/office/drawing/2014/main" id="{1BB894B7-0D66-0C4F-29A2-BF9E584052D4}"/>
              </a:ext>
            </a:extLst>
          </p:cNvPr>
          <p:cNvSpPr>
            <a:spLocks noGrp="1"/>
          </p:cNvSpPr>
          <p:nvPr>
            <p:ph idx="1"/>
          </p:nvPr>
        </p:nvSpPr>
        <p:spPr/>
        <p:txBody>
          <a:bodyPr/>
          <a:lstStyle/>
          <a:p>
            <a:r>
              <a:rPr lang="en-GB" b="1" dirty="0"/>
              <a:t>Target Elimination: </a:t>
            </a:r>
            <a:r>
              <a:rPr lang="en-GB" dirty="0"/>
              <a:t>+10</a:t>
            </a:r>
          </a:p>
          <a:p>
            <a:r>
              <a:rPr lang="en-GB" b="1" dirty="0"/>
              <a:t>Non-Target Elimination: </a:t>
            </a:r>
            <a:r>
              <a:rPr lang="en-GB" dirty="0"/>
              <a:t>-20</a:t>
            </a:r>
          </a:p>
          <a:p>
            <a:r>
              <a:rPr lang="en-GB" b="1" dirty="0"/>
              <a:t>Living Penalty: </a:t>
            </a:r>
            <a:r>
              <a:rPr lang="en-GB" dirty="0"/>
              <a:t>-0.1 per second (speed incentive)</a:t>
            </a:r>
          </a:p>
          <a:p>
            <a:r>
              <a:rPr lang="en-GB" b="1" dirty="0"/>
              <a:t>Target Alignment: </a:t>
            </a:r>
            <a:r>
              <a:rPr lang="en-GB" dirty="0"/>
              <a:t>Fractional reward of up to +0.05 based on Euclidean distance</a:t>
            </a:r>
          </a:p>
          <a:p>
            <a:r>
              <a:rPr lang="en-GB" b="1" dirty="0"/>
              <a:t>Camera Turning (Active Only): </a:t>
            </a:r>
            <a:r>
              <a:rPr lang="en-GB" dirty="0"/>
              <a:t>+0.05 per turn to encourage scanning</a:t>
            </a:r>
            <a:endParaRPr lang="en-GB" b="1" dirty="0"/>
          </a:p>
        </p:txBody>
      </p:sp>
    </p:spTree>
    <p:extLst>
      <p:ext uri="{BB962C8B-B14F-4D97-AF65-F5344CB8AC3E}">
        <p14:creationId xmlns:p14="http://schemas.microsoft.com/office/powerpoint/2010/main" val="4185212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DD6B6-6C02-289C-FD35-AF4ED4155F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3FDE1E-58F1-3360-5BBF-799CA69619A4}"/>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F894E61-DE40-C050-A2CA-C5E5276B3995}"/>
              </a:ext>
            </a:extLst>
          </p:cNvPr>
          <p:cNvSpPr>
            <a:spLocks noGrp="1"/>
          </p:cNvSpPr>
          <p:nvPr>
            <p:ph type="title"/>
          </p:nvPr>
        </p:nvSpPr>
        <p:spPr/>
        <p:txBody>
          <a:bodyPr/>
          <a:lstStyle/>
          <a:p>
            <a:r>
              <a:rPr lang="en-GB" dirty="0">
                <a:solidFill>
                  <a:schemeClr val="bg1"/>
                </a:solidFill>
              </a:rPr>
              <a:t>Findings &amp; Catastrophic Forgetting</a:t>
            </a:r>
          </a:p>
        </p:txBody>
      </p:sp>
      <p:sp>
        <p:nvSpPr>
          <p:cNvPr id="3" name="Content Placeholder 2">
            <a:extLst>
              <a:ext uri="{FF2B5EF4-FFF2-40B4-BE49-F238E27FC236}">
                <a16:creationId xmlns:a16="http://schemas.microsoft.com/office/drawing/2014/main" id="{69D77412-8AE8-D5FA-E828-73C6D0471D0D}"/>
              </a:ext>
            </a:extLst>
          </p:cNvPr>
          <p:cNvSpPr>
            <a:spLocks noGrp="1"/>
          </p:cNvSpPr>
          <p:nvPr>
            <p:ph idx="1"/>
          </p:nvPr>
        </p:nvSpPr>
        <p:spPr>
          <a:xfrm>
            <a:off x="86032" y="1690688"/>
            <a:ext cx="4965290" cy="4351338"/>
          </a:xfrm>
        </p:spPr>
        <p:txBody>
          <a:bodyPr>
            <a:normAutofit lnSpcReduction="10000"/>
          </a:bodyPr>
          <a:lstStyle/>
          <a:p>
            <a:r>
              <a:rPr lang="en-GB" dirty="0"/>
              <a:t>Extreme FOV reductions (&lt;= 20%) initially suffered from policy collapse</a:t>
            </a:r>
          </a:p>
          <a:p>
            <a:r>
              <a:rPr lang="en-GB" dirty="0"/>
              <a:t>Sparse target visibility caused gradient signals to “wash out” during large batch updates</a:t>
            </a:r>
          </a:p>
          <a:p>
            <a:r>
              <a:rPr lang="en-GB" dirty="0"/>
              <a:t>This was addressed via dynamic hyperparameter scaling (reduced batch sizes and increased entropy)</a:t>
            </a:r>
          </a:p>
        </p:txBody>
      </p:sp>
      <p:pic>
        <p:nvPicPr>
          <p:cNvPr id="6" name="Picture 5">
            <a:extLst>
              <a:ext uri="{FF2B5EF4-FFF2-40B4-BE49-F238E27FC236}">
                <a16:creationId xmlns:a16="http://schemas.microsoft.com/office/drawing/2014/main" id="{D4BD3911-1973-16A9-CAE3-054606B8F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1322" y="1480926"/>
            <a:ext cx="7054646" cy="2529667"/>
          </a:xfrm>
          <a:prstGeom prst="rect">
            <a:avLst/>
          </a:prstGeom>
        </p:spPr>
      </p:pic>
      <p:pic>
        <p:nvPicPr>
          <p:cNvPr id="10" name="Picture 9">
            <a:extLst>
              <a:ext uri="{FF2B5EF4-FFF2-40B4-BE49-F238E27FC236}">
                <a16:creationId xmlns:a16="http://schemas.microsoft.com/office/drawing/2014/main" id="{FF944F14-347D-EAA0-1A2E-2C41974CE9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1851" y="4010593"/>
            <a:ext cx="7180149" cy="2833946"/>
          </a:xfrm>
          <a:prstGeom prst="rect">
            <a:avLst/>
          </a:prstGeom>
        </p:spPr>
      </p:pic>
    </p:spTree>
    <p:extLst>
      <p:ext uri="{BB962C8B-B14F-4D97-AF65-F5344CB8AC3E}">
        <p14:creationId xmlns:p14="http://schemas.microsoft.com/office/powerpoint/2010/main" val="2447825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C96F9-CF25-6321-7E98-0AFDCD2F25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FB352F-237E-5897-BEFE-C4B8B679E305}"/>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4D65793-15A6-71A9-AA12-287D790950B9}"/>
              </a:ext>
            </a:extLst>
          </p:cNvPr>
          <p:cNvSpPr>
            <a:spLocks noGrp="1"/>
          </p:cNvSpPr>
          <p:nvPr>
            <p:ph type="title"/>
          </p:nvPr>
        </p:nvSpPr>
        <p:spPr/>
        <p:txBody>
          <a:bodyPr/>
          <a:lstStyle/>
          <a:p>
            <a:r>
              <a:rPr lang="en-GB" dirty="0">
                <a:solidFill>
                  <a:schemeClr val="bg1"/>
                </a:solidFill>
              </a:rPr>
              <a:t>Evaluation: Reward Structure</a:t>
            </a:r>
          </a:p>
        </p:txBody>
      </p:sp>
      <p:sp>
        <p:nvSpPr>
          <p:cNvPr id="3" name="Content Placeholder 2">
            <a:extLst>
              <a:ext uri="{FF2B5EF4-FFF2-40B4-BE49-F238E27FC236}">
                <a16:creationId xmlns:a16="http://schemas.microsoft.com/office/drawing/2014/main" id="{1BA12915-4A00-275F-B3AC-19C15BE907B9}"/>
              </a:ext>
            </a:extLst>
          </p:cNvPr>
          <p:cNvSpPr>
            <a:spLocks noGrp="1"/>
          </p:cNvSpPr>
          <p:nvPr>
            <p:ph idx="1"/>
          </p:nvPr>
        </p:nvSpPr>
        <p:spPr/>
        <p:txBody>
          <a:bodyPr/>
          <a:lstStyle/>
          <a:p>
            <a:r>
              <a:rPr lang="en-GB" dirty="0"/>
              <a:t>Each model type, level, and level condition was run 100 times each, with results saved to disk. Including evaluation on trained level and evaluation on unseen levels across all conditions.</a:t>
            </a:r>
          </a:p>
          <a:p>
            <a:r>
              <a:rPr lang="en-GB" dirty="0"/>
              <a:t>Evaluations were prescribed a strict reward structure:</a:t>
            </a:r>
          </a:p>
          <a:p>
            <a:pPr lvl="1"/>
            <a:r>
              <a:rPr lang="en-GB" dirty="0"/>
              <a:t>Killing Target: +20</a:t>
            </a:r>
          </a:p>
          <a:p>
            <a:pPr lvl="1"/>
            <a:r>
              <a:rPr lang="en-GB" dirty="0"/>
              <a:t>Killing Non-Target: -20</a:t>
            </a:r>
          </a:p>
          <a:p>
            <a:pPr lvl="1"/>
            <a:r>
              <a:rPr lang="en-GB" dirty="0"/>
              <a:t>Living: -1</a:t>
            </a:r>
          </a:p>
          <a:p>
            <a:pPr lvl="1"/>
            <a:r>
              <a:rPr lang="en-GB" dirty="0"/>
              <a:t>Bullet Shot: -1</a:t>
            </a:r>
          </a:p>
        </p:txBody>
      </p:sp>
    </p:spTree>
    <p:extLst>
      <p:ext uri="{BB962C8B-B14F-4D97-AF65-F5344CB8AC3E}">
        <p14:creationId xmlns:p14="http://schemas.microsoft.com/office/powerpoint/2010/main" val="304512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C7260-A5C1-95CA-213F-77ABEBFF3F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05720F-B858-71DB-A046-FDEE258209D5}"/>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9E06658-B277-C29E-01DD-F1D18D695D36}"/>
              </a:ext>
            </a:extLst>
          </p:cNvPr>
          <p:cNvSpPr>
            <a:spLocks noGrp="1"/>
          </p:cNvSpPr>
          <p:nvPr>
            <p:ph type="title"/>
          </p:nvPr>
        </p:nvSpPr>
        <p:spPr/>
        <p:txBody>
          <a:bodyPr/>
          <a:lstStyle/>
          <a:p>
            <a:r>
              <a:rPr lang="en-GB" dirty="0">
                <a:solidFill>
                  <a:schemeClr val="bg1"/>
                </a:solidFill>
              </a:rPr>
              <a:t>Trained Model Demonstrations</a:t>
            </a:r>
          </a:p>
        </p:txBody>
      </p:sp>
      <p:pic>
        <p:nvPicPr>
          <p:cNvPr id="5" name="active_reduction_1_lvl_2_on_lvl_2-step-0-to-step-1000">
            <a:hlinkClick r:id="" action="ppaction://media"/>
            <a:extLst>
              <a:ext uri="{FF2B5EF4-FFF2-40B4-BE49-F238E27FC236}">
                <a16:creationId xmlns:a16="http://schemas.microsoft.com/office/drawing/2014/main" id="{358EBCE7-8955-3E2C-BE75-8F4719072C2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602385" y="1690688"/>
            <a:ext cx="3387759" cy="2540819"/>
          </a:xfrm>
          <a:prstGeom prst="rect">
            <a:avLst/>
          </a:prstGeom>
        </p:spPr>
      </p:pic>
      <p:sp>
        <p:nvSpPr>
          <p:cNvPr id="6" name="TextBox 5">
            <a:extLst>
              <a:ext uri="{FF2B5EF4-FFF2-40B4-BE49-F238E27FC236}">
                <a16:creationId xmlns:a16="http://schemas.microsoft.com/office/drawing/2014/main" id="{F146CDA2-45E1-2171-F596-04D3B45B0EE4}"/>
              </a:ext>
            </a:extLst>
          </p:cNvPr>
          <p:cNvSpPr txBox="1"/>
          <p:nvPr/>
        </p:nvSpPr>
        <p:spPr>
          <a:xfrm>
            <a:off x="1861983" y="4454730"/>
            <a:ext cx="2868562" cy="923330"/>
          </a:xfrm>
          <a:prstGeom prst="rect">
            <a:avLst/>
          </a:prstGeom>
          <a:noFill/>
        </p:spPr>
        <p:txBody>
          <a:bodyPr wrap="square" rtlCol="0">
            <a:spAutoFit/>
          </a:bodyPr>
          <a:lstStyle/>
          <a:p>
            <a:r>
              <a:rPr lang="en-GB" dirty="0"/>
              <a:t>Active Model – Reduction 1%, trained level 2, evaluated level 2</a:t>
            </a:r>
          </a:p>
        </p:txBody>
      </p:sp>
      <p:pic>
        <p:nvPicPr>
          <p:cNvPr id="8" name="baseline_lvl_2_on_lvl_2-step-0-to-step-1000">
            <a:hlinkClick r:id="" action="ppaction://media"/>
            <a:extLst>
              <a:ext uri="{FF2B5EF4-FFF2-40B4-BE49-F238E27FC236}">
                <a16:creationId xmlns:a16="http://schemas.microsoft.com/office/drawing/2014/main" id="{22B85FCC-92C0-DED5-CCEE-AE5FD66E143B}"/>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608608" y="1690688"/>
            <a:ext cx="3387760" cy="2540820"/>
          </a:xfrm>
          <a:prstGeom prst="rect">
            <a:avLst/>
          </a:prstGeom>
        </p:spPr>
      </p:pic>
      <p:sp>
        <p:nvSpPr>
          <p:cNvPr id="9" name="TextBox 8">
            <a:extLst>
              <a:ext uri="{FF2B5EF4-FFF2-40B4-BE49-F238E27FC236}">
                <a16:creationId xmlns:a16="http://schemas.microsoft.com/office/drawing/2014/main" id="{AD9E714B-B630-0860-708D-B7F6BD804149}"/>
              </a:ext>
            </a:extLst>
          </p:cNvPr>
          <p:cNvSpPr txBox="1"/>
          <p:nvPr/>
        </p:nvSpPr>
        <p:spPr>
          <a:xfrm>
            <a:off x="6826881" y="4454730"/>
            <a:ext cx="2868562" cy="646331"/>
          </a:xfrm>
          <a:prstGeom prst="rect">
            <a:avLst/>
          </a:prstGeom>
          <a:noFill/>
        </p:spPr>
        <p:txBody>
          <a:bodyPr wrap="square" rtlCol="0">
            <a:spAutoFit/>
          </a:bodyPr>
          <a:lstStyle/>
          <a:p>
            <a:r>
              <a:rPr lang="en-GB" dirty="0"/>
              <a:t>Baseline Model – Trained level 2, evaluated level 2</a:t>
            </a:r>
          </a:p>
        </p:txBody>
      </p:sp>
    </p:spTree>
    <p:extLst>
      <p:ext uri="{BB962C8B-B14F-4D97-AF65-F5344CB8AC3E}">
        <p14:creationId xmlns:p14="http://schemas.microsoft.com/office/powerpoint/2010/main" val="893259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172" fill="hold"/>
                                        <p:tgtEl>
                                          <p:spTgt spid="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525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5"/>
                </p:tgtEl>
              </p:cMediaNode>
            </p:video>
            <p:seq concurrent="1" nextAc="seek">
              <p:cTn id="12" restart="whenNotActive" fill="hold" evtFilter="cancelBubble" nodeType="interactiveSeq">
                <p:stCondLst>
                  <p:cond evt="onClick" delay="0">
                    <p:tgtEl>
                      <p:spTgt spid="5"/>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5"/>
                                        </p:tgtEl>
                                      </p:cBhvr>
                                    </p:cmd>
                                  </p:childTnLst>
                                </p:cTn>
                              </p:par>
                            </p:childTnLst>
                          </p:cTn>
                        </p:par>
                      </p:childTnLst>
                    </p:cTn>
                  </p:par>
                </p:childTnLst>
              </p:cTn>
              <p:nextCondLst>
                <p:cond evt="onClick" delay="0">
                  <p:tgtEl>
                    <p:spTgt spid="5"/>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C7260-A5C1-95CA-213F-77ABEBFF3F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05720F-B858-71DB-A046-FDEE258209D5}"/>
              </a:ext>
            </a:extLst>
          </p:cNvPr>
          <p:cNvSpPr/>
          <p:nvPr/>
        </p:nvSpPr>
        <p:spPr>
          <a:xfrm>
            <a:off x="0" y="1"/>
            <a:ext cx="12192000" cy="923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9E06658-B277-C29E-01DD-F1D18D695D36}"/>
              </a:ext>
            </a:extLst>
          </p:cNvPr>
          <p:cNvSpPr>
            <a:spLocks noGrp="1"/>
          </p:cNvSpPr>
          <p:nvPr>
            <p:ph type="title"/>
          </p:nvPr>
        </p:nvSpPr>
        <p:spPr>
          <a:xfrm>
            <a:off x="701029" y="-187299"/>
            <a:ext cx="10515600" cy="1325563"/>
          </a:xfrm>
        </p:spPr>
        <p:txBody>
          <a:bodyPr/>
          <a:lstStyle/>
          <a:p>
            <a:r>
              <a:rPr lang="en-GB" dirty="0">
                <a:solidFill>
                  <a:schemeClr val="bg1"/>
                </a:solidFill>
              </a:rPr>
              <a:t>Trained Model Demonstrations</a:t>
            </a:r>
          </a:p>
        </p:txBody>
      </p:sp>
      <p:pic>
        <p:nvPicPr>
          <p:cNvPr id="7" name="Picture 6">
            <a:extLst>
              <a:ext uri="{FF2B5EF4-FFF2-40B4-BE49-F238E27FC236}">
                <a16:creationId xmlns:a16="http://schemas.microsoft.com/office/drawing/2014/main" id="{3F73C8E9-6F2A-937E-AF2A-644344E0F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029" y="950964"/>
            <a:ext cx="10789942" cy="5907036"/>
          </a:xfrm>
          <a:prstGeom prst="rect">
            <a:avLst/>
          </a:prstGeom>
        </p:spPr>
      </p:pic>
    </p:spTree>
    <p:extLst>
      <p:ext uri="{BB962C8B-B14F-4D97-AF65-F5344CB8AC3E}">
        <p14:creationId xmlns:p14="http://schemas.microsoft.com/office/powerpoint/2010/main" val="39306639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27021-1A49-6CB3-8F0C-1BC2DBA6A6D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737628-FCDD-E489-AABF-C8798BFA2C5A}"/>
              </a:ext>
            </a:extLst>
          </p:cNvPr>
          <p:cNvSpPr/>
          <p:nvPr/>
        </p:nvSpPr>
        <p:spPr>
          <a:xfrm>
            <a:off x="0" y="0"/>
            <a:ext cx="12192000" cy="917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C9BF498-B224-1546-4F1B-73BA07B6D13A}"/>
              </a:ext>
            </a:extLst>
          </p:cNvPr>
          <p:cNvSpPr>
            <a:spLocks noGrp="1"/>
          </p:cNvSpPr>
          <p:nvPr>
            <p:ph type="title"/>
          </p:nvPr>
        </p:nvSpPr>
        <p:spPr>
          <a:xfrm>
            <a:off x="485468" y="-165817"/>
            <a:ext cx="10515600" cy="1325563"/>
          </a:xfrm>
        </p:spPr>
        <p:txBody>
          <a:bodyPr/>
          <a:lstStyle/>
          <a:p>
            <a:r>
              <a:rPr lang="en-GB" dirty="0">
                <a:solidFill>
                  <a:schemeClr val="bg1"/>
                </a:solidFill>
              </a:rPr>
              <a:t>Mean Model Performance</a:t>
            </a:r>
          </a:p>
        </p:txBody>
      </p:sp>
      <p:graphicFrame>
        <p:nvGraphicFramePr>
          <p:cNvPr id="3" name="Object 2">
            <a:extLst>
              <a:ext uri="{FF2B5EF4-FFF2-40B4-BE49-F238E27FC236}">
                <a16:creationId xmlns:a16="http://schemas.microsoft.com/office/drawing/2014/main" id="{E6D24F37-9A31-DA89-E121-F37AEE846EFB}"/>
              </a:ext>
            </a:extLst>
          </p:cNvPr>
          <p:cNvGraphicFramePr>
            <a:graphicFrameLocks noChangeAspect="1"/>
          </p:cNvGraphicFramePr>
          <p:nvPr>
            <p:extLst>
              <p:ext uri="{D42A27DB-BD31-4B8C-83A1-F6EECF244321}">
                <p14:modId xmlns:p14="http://schemas.microsoft.com/office/powerpoint/2010/main" val="1691644617"/>
              </p:ext>
            </p:extLst>
          </p:nvPr>
        </p:nvGraphicFramePr>
        <p:xfrm>
          <a:off x="1309687" y="1083632"/>
          <a:ext cx="9572625" cy="5743575"/>
        </p:xfrm>
        <a:graphic>
          <a:graphicData uri="http://schemas.openxmlformats.org/presentationml/2006/ole">
            <mc:AlternateContent xmlns:mc="http://schemas.openxmlformats.org/markup-compatibility/2006">
              <mc:Choice xmlns:v="urn:schemas-microsoft-com:vml" Requires="v">
                <p:oleObj name="Acrobat Document" r:id="rId3" imgW="3429000" imgH="2057400" progId="Acrobat.Document.DC">
                  <p:embed/>
                </p:oleObj>
              </mc:Choice>
              <mc:Fallback>
                <p:oleObj name="Acrobat Document" r:id="rId3" imgW="3429000" imgH="2057400" progId="Acrobat.Document.DC">
                  <p:embed/>
                  <p:pic>
                    <p:nvPicPr>
                      <p:cNvPr id="3" name="Object 2">
                        <a:extLst>
                          <a:ext uri="{FF2B5EF4-FFF2-40B4-BE49-F238E27FC236}">
                            <a16:creationId xmlns:a16="http://schemas.microsoft.com/office/drawing/2014/main" id="{E6D24F37-9A31-DA89-E121-F37AEE846EFB}"/>
                          </a:ext>
                        </a:extLst>
                      </p:cNvPr>
                      <p:cNvPicPr/>
                      <p:nvPr/>
                    </p:nvPicPr>
                    <p:blipFill>
                      <a:blip r:embed="rId4"/>
                      <a:stretch>
                        <a:fillRect/>
                      </a:stretch>
                    </p:blipFill>
                    <p:spPr>
                      <a:xfrm>
                        <a:off x="1309687" y="1083632"/>
                        <a:ext cx="9572625" cy="5743575"/>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4812E2F4-E73B-D9F4-23F0-C3DB3DB44BF3}"/>
              </a:ext>
            </a:extLst>
          </p:cNvPr>
          <p:cNvSpPr/>
          <p:nvPr/>
        </p:nvSpPr>
        <p:spPr>
          <a:xfrm>
            <a:off x="5973097" y="6467168"/>
            <a:ext cx="803787" cy="2138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solidFill>
                  <a:schemeClr val="bg1"/>
                </a:solidFill>
              </a:ln>
              <a:solidFill>
                <a:schemeClr val="bg1"/>
              </a:solidFill>
            </a:endParaRPr>
          </a:p>
        </p:txBody>
      </p:sp>
    </p:spTree>
    <p:extLst>
      <p:ext uri="{BB962C8B-B14F-4D97-AF65-F5344CB8AC3E}">
        <p14:creationId xmlns:p14="http://schemas.microsoft.com/office/powerpoint/2010/main" val="1869951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CE9D1-1E66-EF21-68A4-47435BF663A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B29D599-3EC0-312C-1800-DB5798BEA1B3}"/>
              </a:ext>
            </a:extLst>
          </p:cNvPr>
          <p:cNvSpPr/>
          <p:nvPr/>
        </p:nvSpPr>
        <p:spPr>
          <a:xfrm>
            <a:off x="0" y="0"/>
            <a:ext cx="12192000" cy="9178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BB77132-D81F-9AF8-2466-C25FF7161540}"/>
              </a:ext>
            </a:extLst>
          </p:cNvPr>
          <p:cNvSpPr>
            <a:spLocks noGrp="1"/>
          </p:cNvSpPr>
          <p:nvPr>
            <p:ph type="title"/>
          </p:nvPr>
        </p:nvSpPr>
        <p:spPr>
          <a:xfrm>
            <a:off x="485468" y="-165817"/>
            <a:ext cx="10515600" cy="1325563"/>
          </a:xfrm>
        </p:spPr>
        <p:txBody>
          <a:bodyPr/>
          <a:lstStyle/>
          <a:p>
            <a:r>
              <a:rPr lang="en-GB" dirty="0">
                <a:solidFill>
                  <a:schemeClr val="bg1"/>
                </a:solidFill>
              </a:rPr>
              <a:t>Model Performance: Generalisability </a:t>
            </a:r>
          </a:p>
        </p:txBody>
      </p:sp>
      <p:graphicFrame>
        <p:nvGraphicFramePr>
          <p:cNvPr id="5" name="Object 4">
            <a:extLst>
              <a:ext uri="{FF2B5EF4-FFF2-40B4-BE49-F238E27FC236}">
                <a16:creationId xmlns:a16="http://schemas.microsoft.com/office/drawing/2014/main" id="{0DA596CA-AC64-5EC4-0A08-472811C11627}"/>
              </a:ext>
            </a:extLst>
          </p:cNvPr>
          <p:cNvGraphicFramePr>
            <a:graphicFrameLocks noChangeAspect="1"/>
          </p:cNvGraphicFramePr>
          <p:nvPr>
            <p:extLst>
              <p:ext uri="{D42A27DB-BD31-4B8C-83A1-F6EECF244321}">
                <p14:modId xmlns:p14="http://schemas.microsoft.com/office/powerpoint/2010/main" val="2384968470"/>
              </p:ext>
            </p:extLst>
          </p:nvPr>
        </p:nvGraphicFramePr>
        <p:xfrm>
          <a:off x="6291792" y="1658937"/>
          <a:ext cx="5900208" cy="3540125"/>
        </p:xfrm>
        <a:graphic>
          <a:graphicData uri="http://schemas.openxmlformats.org/presentationml/2006/ole">
            <mc:AlternateContent xmlns:mc="http://schemas.openxmlformats.org/markup-compatibility/2006">
              <mc:Choice xmlns:v="urn:schemas-microsoft-com:vml" Requires="v">
                <p:oleObj name="Acrobat Document" r:id="rId3" imgW="3429000" imgH="2057400" progId="Acrobat.Document.DC">
                  <p:embed/>
                </p:oleObj>
              </mc:Choice>
              <mc:Fallback>
                <p:oleObj name="Acrobat Document" r:id="rId3" imgW="3429000" imgH="2057400" progId="Acrobat.Document.DC">
                  <p:embed/>
                  <p:pic>
                    <p:nvPicPr>
                      <p:cNvPr id="5" name="Object 4">
                        <a:extLst>
                          <a:ext uri="{FF2B5EF4-FFF2-40B4-BE49-F238E27FC236}">
                            <a16:creationId xmlns:a16="http://schemas.microsoft.com/office/drawing/2014/main" id="{0DA596CA-AC64-5EC4-0A08-472811C11627}"/>
                          </a:ext>
                        </a:extLst>
                      </p:cNvPr>
                      <p:cNvPicPr/>
                      <p:nvPr/>
                    </p:nvPicPr>
                    <p:blipFill>
                      <a:blip r:embed="rId4"/>
                      <a:stretch>
                        <a:fillRect/>
                      </a:stretch>
                    </p:blipFill>
                    <p:spPr>
                      <a:xfrm>
                        <a:off x="6291792" y="1658937"/>
                        <a:ext cx="5900208" cy="354012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35C45B9C-D8B8-9E49-CCB5-7846EACCF099}"/>
              </a:ext>
            </a:extLst>
          </p:cNvPr>
          <p:cNvGraphicFramePr>
            <a:graphicFrameLocks noChangeAspect="1"/>
          </p:cNvGraphicFramePr>
          <p:nvPr>
            <p:extLst>
              <p:ext uri="{D42A27DB-BD31-4B8C-83A1-F6EECF244321}">
                <p14:modId xmlns:p14="http://schemas.microsoft.com/office/powerpoint/2010/main" val="1590627721"/>
              </p:ext>
            </p:extLst>
          </p:nvPr>
        </p:nvGraphicFramePr>
        <p:xfrm>
          <a:off x="231774" y="1549797"/>
          <a:ext cx="5749925" cy="3593703"/>
        </p:xfrm>
        <a:graphic>
          <a:graphicData uri="http://schemas.openxmlformats.org/presentationml/2006/ole">
            <mc:AlternateContent xmlns:mc="http://schemas.openxmlformats.org/markup-compatibility/2006">
              <mc:Choice xmlns:v="urn:schemas-microsoft-com:vml" Requires="v">
                <p:oleObj name="Acrobat Document" r:id="rId5" imgW="2743200" imgH="1714500" progId="Acrobat.Document.DC">
                  <p:embed/>
                </p:oleObj>
              </mc:Choice>
              <mc:Fallback>
                <p:oleObj name="Acrobat Document" r:id="rId5" imgW="2743200" imgH="1714500" progId="Acrobat.Document.DC">
                  <p:embed/>
                  <p:pic>
                    <p:nvPicPr>
                      <p:cNvPr id="6" name="Object 5">
                        <a:extLst>
                          <a:ext uri="{FF2B5EF4-FFF2-40B4-BE49-F238E27FC236}">
                            <a16:creationId xmlns:a16="http://schemas.microsoft.com/office/drawing/2014/main" id="{35C45B9C-D8B8-9E49-CCB5-7846EACCF099}"/>
                          </a:ext>
                        </a:extLst>
                      </p:cNvPr>
                      <p:cNvPicPr/>
                      <p:nvPr/>
                    </p:nvPicPr>
                    <p:blipFill>
                      <a:blip r:embed="rId6"/>
                      <a:stretch>
                        <a:fillRect/>
                      </a:stretch>
                    </p:blipFill>
                    <p:spPr>
                      <a:xfrm>
                        <a:off x="231774" y="1549797"/>
                        <a:ext cx="5749925" cy="3593703"/>
                      </a:xfrm>
                      <a:prstGeom prst="rect">
                        <a:avLst/>
                      </a:prstGeom>
                    </p:spPr>
                  </p:pic>
                </p:oleObj>
              </mc:Fallback>
            </mc:AlternateContent>
          </a:graphicData>
        </a:graphic>
      </p:graphicFrame>
    </p:spTree>
    <p:extLst>
      <p:ext uri="{BB962C8B-B14F-4D97-AF65-F5344CB8AC3E}">
        <p14:creationId xmlns:p14="http://schemas.microsoft.com/office/powerpoint/2010/main" val="2518134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65F40-05F4-5374-E5AC-7F473EF504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C33D97-A190-1753-19A2-57734A88272B}"/>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C4F260C-0739-1079-CE37-E7F2BA7D45E0}"/>
              </a:ext>
            </a:extLst>
          </p:cNvPr>
          <p:cNvSpPr>
            <a:spLocks noGrp="1"/>
          </p:cNvSpPr>
          <p:nvPr>
            <p:ph type="title"/>
          </p:nvPr>
        </p:nvSpPr>
        <p:spPr>
          <a:xfrm>
            <a:off x="71284" y="141902"/>
            <a:ext cx="10515600" cy="1325563"/>
          </a:xfrm>
        </p:spPr>
        <p:txBody>
          <a:bodyPr/>
          <a:lstStyle/>
          <a:p>
            <a:r>
              <a:rPr lang="en-GB" dirty="0">
                <a:solidFill>
                  <a:schemeClr val="bg1"/>
                </a:solidFill>
              </a:rPr>
              <a:t>Conclusion &amp; Future Work</a:t>
            </a:r>
          </a:p>
        </p:txBody>
      </p:sp>
      <p:sp>
        <p:nvSpPr>
          <p:cNvPr id="3" name="Content Placeholder 2">
            <a:extLst>
              <a:ext uri="{FF2B5EF4-FFF2-40B4-BE49-F238E27FC236}">
                <a16:creationId xmlns:a16="http://schemas.microsoft.com/office/drawing/2014/main" id="{6FBB48B2-F8FB-B970-E28F-F77DCAF14198}"/>
              </a:ext>
            </a:extLst>
          </p:cNvPr>
          <p:cNvSpPr>
            <a:spLocks noGrp="1"/>
          </p:cNvSpPr>
          <p:nvPr>
            <p:ph idx="1"/>
          </p:nvPr>
        </p:nvSpPr>
        <p:spPr/>
        <p:txBody>
          <a:bodyPr>
            <a:normAutofit/>
          </a:bodyPr>
          <a:lstStyle/>
          <a:p>
            <a:r>
              <a:rPr lang="en-GB" dirty="0"/>
              <a:t>Active camera movement provides a reproducible alternative to passive CNN paradigms (i.e. passive, static viewpoints)</a:t>
            </a:r>
          </a:p>
          <a:p>
            <a:r>
              <a:rPr lang="en-GB" dirty="0"/>
              <a:t>The framework utilised successfully integrates </a:t>
            </a:r>
            <a:r>
              <a:rPr lang="en-GB" dirty="0" err="1"/>
              <a:t>ViZDoom</a:t>
            </a:r>
            <a:r>
              <a:rPr lang="en-GB" dirty="0"/>
              <a:t>, Gymnasium, and SB3 for future active vision benchmarking, providing a baseline to the field </a:t>
            </a:r>
          </a:p>
          <a:p>
            <a:r>
              <a:rPr lang="en-GB" dirty="0"/>
              <a:t>There are endless possibilities for future work, through expansion towards more complex action spaces, and sim to real transfer, putting trained simulations into real-world robotics (for extensions of this project, see next slide)</a:t>
            </a:r>
          </a:p>
        </p:txBody>
      </p:sp>
    </p:spTree>
    <p:extLst>
      <p:ext uri="{BB962C8B-B14F-4D97-AF65-F5344CB8AC3E}">
        <p14:creationId xmlns:p14="http://schemas.microsoft.com/office/powerpoint/2010/main" val="1581229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952C0-1DBF-1FBA-B0AB-8AD88794C53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4F3CB4-1600-0207-5B93-AA89633B3A2A}"/>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7E32E40-2099-3850-B2A2-AE1D9082E489}"/>
              </a:ext>
            </a:extLst>
          </p:cNvPr>
          <p:cNvSpPr>
            <a:spLocks noGrp="1"/>
          </p:cNvSpPr>
          <p:nvPr>
            <p:ph type="title"/>
          </p:nvPr>
        </p:nvSpPr>
        <p:spPr>
          <a:xfrm>
            <a:off x="71284" y="141902"/>
            <a:ext cx="10515600" cy="1325563"/>
          </a:xfrm>
        </p:spPr>
        <p:txBody>
          <a:bodyPr/>
          <a:lstStyle/>
          <a:p>
            <a:r>
              <a:rPr lang="en-GB" dirty="0">
                <a:solidFill>
                  <a:schemeClr val="bg1"/>
                </a:solidFill>
              </a:rPr>
              <a:t>Conclusion &amp; Future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E3E845-9B78-076B-87DB-836CBC5798D6}"/>
                  </a:ext>
                </a:extLst>
              </p:cNvPr>
              <p:cNvSpPr>
                <a:spLocks noGrp="1"/>
              </p:cNvSpPr>
              <p:nvPr>
                <p:ph idx="1"/>
              </p:nvPr>
            </p:nvSpPr>
            <p:spPr>
              <a:xfrm>
                <a:off x="71284" y="1609366"/>
                <a:ext cx="11282516" cy="5106731"/>
              </a:xfrm>
            </p:spPr>
            <p:txBody>
              <a:bodyPr>
                <a:normAutofit fontScale="62500" lnSpcReduction="20000"/>
              </a:bodyPr>
              <a:lstStyle/>
              <a:p>
                <a:r>
                  <a:rPr lang="en-GB" b="1" dirty="0"/>
                  <a:t>Cacodemon Recognition: </a:t>
                </a:r>
                <a:r>
                  <a:rPr lang="en-GB" dirty="0"/>
                  <a:t>The current scenario only supports docile, static enemies. Investigations could look into the effects of enemies that move during training, enemies that damage the player, larger maps forcing the agent to have to navigate before finding the target, and combinations of all the aforementioned.</a:t>
                </a:r>
              </a:p>
              <a:p>
                <a:pPr marL="0" indent="0">
                  <a:buNone/>
                </a:pPr>
                <a:endParaRPr lang="en-GB" b="1" dirty="0"/>
              </a:p>
              <a:p>
                <a:r>
                  <a:rPr lang="en-GB" b="1" dirty="0"/>
                  <a:t>Testing Threat Assessment and Triage</a:t>
                </a:r>
                <a:r>
                  <a:rPr lang="en-GB" dirty="0"/>
                  <a:t>: Test a model's ability to prioritise targets based on the level of danger they impose. </a:t>
                </a:r>
              </a:p>
              <a:p>
                <a:pPr lvl="1"/>
                <a:r>
                  <a:rPr lang="en-GB" b="1" dirty="0"/>
                  <a:t>Task</a:t>
                </a:r>
                <a:r>
                  <a:rPr lang="en-GB" dirty="0"/>
                  <a:t>: "Survive against multiple types of enemy”</a:t>
                </a:r>
              </a:p>
              <a:p>
                <a:pPr lvl="1"/>
                <a:r>
                  <a:rPr lang="en-GB" b="1" dirty="0"/>
                  <a:t>Scenario</a:t>
                </a:r>
                <a:r>
                  <a:rPr lang="en-GB" dirty="0"/>
                  <a:t>: The model is placed in a room where a few enemies spawn (</a:t>
                </a:r>
                <a14:m>
                  <m:oMath xmlns:m="http://schemas.openxmlformats.org/officeDocument/2006/math">
                    <m:r>
                      <a:rPr lang="en-GB">
                        <a:latin typeface="Cambria Math" panose="02040503050406030204" pitchFamily="18" charset="0"/>
                      </a:rPr>
                      <m:t>≥2</m:t>
                    </m:r>
                  </m:oMath>
                </a14:m>
                <a:r>
                  <a:rPr lang="en-GB" dirty="0"/>
                  <a:t> at least):</a:t>
                </a:r>
              </a:p>
              <a:p>
                <a:pPr lvl="2"/>
                <a:r>
                  <a:rPr lang="en-GB" b="1" dirty="0"/>
                  <a:t>Former Human</a:t>
                </a:r>
                <a:r>
                  <a:rPr lang="en-GB" dirty="0"/>
                  <a:t>: Armed with a rifle, but the easiest enemy to kill in the game</a:t>
                </a:r>
              </a:p>
              <a:p>
                <a:pPr lvl="2"/>
                <a:r>
                  <a:rPr lang="en-GB" b="1" dirty="0"/>
                  <a:t>Imps</a:t>
                </a:r>
                <a:r>
                  <a:rPr lang="en-GB" dirty="0"/>
                  <a:t>: Hurls fireballs at the player and can move towards them. Slightly harder to kill but slow-moving</a:t>
                </a:r>
              </a:p>
              <a:p>
                <a:pPr lvl="2"/>
                <a:r>
                  <a:rPr lang="en-GB" b="1" dirty="0"/>
                  <a:t>Lost Soul</a:t>
                </a:r>
                <a:r>
                  <a:rPr lang="en-GB" dirty="0"/>
                  <a:t>: Fast moving floating enemy that will launch itself at the player. Hard to kill</a:t>
                </a:r>
              </a:p>
              <a:p>
                <a:pPr lvl="2"/>
                <a:r>
                  <a:rPr lang="en-GB" b="1" dirty="0"/>
                  <a:t>Pinkies/Demons</a:t>
                </a:r>
                <a:r>
                  <a:rPr lang="en-GB" dirty="0"/>
                  <a:t>: Large enemies that will run fast towards the player, have more health than the other enemies, and only uses close-range melee attacks.</a:t>
                </a:r>
                <a:br>
                  <a:rPr lang="en-GB" dirty="0"/>
                </a:br>
                <a:br>
                  <a:rPr lang="en-GB" dirty="0"/>
                </a:br>
                <a:endParaRPr lang="en-GB" dirty="0"/>
              </a:p>
              <a:p>
                <a:r>
                  <a:rPr lang="en-GB" b="1" dirty="0"/>
                  <a:t>Testing Systematic Search and Exploration</a:t>
                </a:r>
                <a:r>
                  <a:rPr lang="en-GB" dirty="0"/>
                  <a:t>: The goal here would be to test the model's ability to develop an efficient strategy at finding "secrets" (a term coined by doom for hidden switches and rooms), instead of aimlessly walking around the level.</a:t>
                </a:r>
              </a:p>
              <a:p>
                <a:pPr lvl="1"/>
                <a:r>
                  <a:rPr lang="en-GB" b="1" dirty="0"/>
                  <a:t>The Task</a:t>
                </a:r>
                <a:r>
                  <a:rPr lang="en-GB" dirty="0"/>
                  <a:t>: "Find a small, hidden switch to open the exit and complete the level"</a:t>
                </a:r>
              </a:p>
              <a:p>
                <a:pPr lvl="1"/>
                <a:r>
                  <a:rPr lang="en-GB" b="1" dirty="0"/>
                  <a:t>The Scenario</a:t>
                </a:r>
                <a:r>
                  <a:rPr lang="en-GB" dirty="0"/>
                  <a:t>: A large, open plan level would need to be created, filled with various objects and obstacles (i.e. visual clutter). Somewhere in this room would be a small switch hidden in an unsuspecting place (e.g. on the side of a pillar or in a poorly lit corner).</a:t>
                </a:r>
              </a:p>
              <a:p>
                <a:pPr marL="457200" lvl="1" indent="0">
                  <a:buNone/>
                </a:pPr>
                <a:endParaRPr lang="en-GB" dirty="0"/>
              </a:p>
            </p:txBody>
          </p:sp>
        </mc:Choice>
        <mc:Fallback xmlns="">
          <p:sp>
            <p:nvSpPr>
              <p:cNvPr id="3" name="Content Placeholder 2">
                <a:extLst>
                  <a:ext uri="{FF2B5EF4-FFF2-40B4-BE49-F238E27FC236}">
                    <a16:creationId xmlns:a16="http://schemas.microsoft.com/office/drawing/2014/main" id="{03E3E845-9B78-076B-87DB-836CBC5798D6}"/>
                  </a:ext>
                </a:extLst>
              </p:cNvPr>
              <p:cNvSpPr>
                <a:spLocks noGrp="1" noRot="1" noChangeAspect="1" noMove="1" noResize="1" noEditPoints="1" noAdjustHandles="1" noChangeArrowheads="1" noChangeShapeType="1" noTextEdit="1"/>
              </p:cNvSpPr>
              <p:nvPr>
                <p:ph idx="1"/>
              </p:nvPr>
            </p:nvSpPr>
            <p:spPr>
              <a:xfrm>
                <a:off x="71284" y="1609366"/>
                <a:ext cx="11282516" cy="5106731"/>
              </a:xfrm>
              <a:blipFill>
                <a:blip r:embed="rId3"/>
                <a:stretch>
                  <a:fillRect l="-378" t="-2148" r="-864"/>
                </a:stretch>
              </a:blipFill>
            </p:spPr>
            <p:txBody>
              <a:bodyPr/>
              <a:lstStyle/>
              <a:p>
                <a:r>
                  <a:rPr lang="en-GB">
                    <a:noFill/>
                  </a:rPr>
                  <a:t> </a:t>
                </a:r>
              </a:p>
            </p:txBody>
          </p:sp>
        </mc:Fallback>
      </mc:AlternateContent>
    </p:spTree>
    <p:extLst>
      <p:ext uri="{BB962C8B-B14F-4D97-AF65-F5344CB8AC3E}">
        <p14:creationId xmlns:p14="http://schemas.microsoft.com/office/powerpoint/2010/main" val="4127748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21F6C4-F8BA-9DE2-5BE7-EADA4D3AC620}"/>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DA1518D-DABA-4ACA-92FE-EB65C79A597E}"/>
              </a:ext>
            </a:extLst>
          </p:cNvPr>
          <p:cNvSpPr>
            <a:spLocks noGrp="1"/>
          </p:cNvSpPr>
          <p:nvPr>
            <p:ph type="title"/>
          </p:nvPr>
        </p:nvSpPr>
        <p:spPr>
          <a:xfrm>
            <a:off x="108155" y="70950"/>
            <a:ext cx="10515600" cy="1325563"/>
          </a:xfrm>
        </p:spPr>
        <p:txBody>
          <a:bodyPr/>
          <a:lstStyle/>
          <a:p>
            <a:r>
              <a:rPr lang="en-GB" dirty="0">
                <a:solidFill>
                  <a:schemeClr val="bg1"/>
                </a:solidFill>
              </a:rPr>
              <a:t>Bibliography</a:t>
            </a:r>
          </a:p>
        </p:txBody>
      </p:sp>
      <p:sp>
        <p:nvSpPr>
          <p:cNvPr id="3" name="Content Placeholder 2">
            <a:extLst>
              <a:ext uri="{FF2B5EF4-FFF2-40B4-BE49-F238E27FC236}">
                <a16:creationId xmlns:a16="http://schemas.microsoft.com/office/drawing/2014/main" id="{06B39249-D054-9108-1372-69758B0A0E62}"/>
              </a:ext>
            </a:extLst>
          </p:cNvPr>
          <p:cNvSpPr>
            <a:spLocks noGrp="1"/>
          </p:cNvSpPr>
          <p:nvPr>
            <p:ph idx="1"/>
          </p:nvPr>
        </p:nvSpPr>
        <p:spPr/>
        <p:txBody>
          <a:bodyPr>
            <a:normAutofit fontScale="62500" lnSpcReduction="20000"/>
          </a:bodyPr>
          <a:lstStyle/>
          <a:p>
            <a:pPr marL="0" indent="0">
              <a:buNone/>
            </a:pPr>
            <a:r>
              <a:rPr lang="en-GB" sz="1600" b="1" dirty="0"/>
              <a:t>[1]</a:t>
            </a:r>
            <a:r>
              <a:rPr lang="en-GB" sz="1600" dirty="0"/>
              <a:t> </a:t>
            </a:r>
            <a:r>
              <a:rPr lang="en-GB" sz="1600" dirty="0" err="1"/>
              <a:t>Aloimonos</a:t>
            </a:r>
            <a:r>
              <a:rPr lang="en-GB" sz="1600" dirty="0"/>
              <a:t>, J., Weiss, I. and Bandyopadhyay, A. (1988), ‘Active vision’, International Journal </a:t>
            </a:r>
            <a:r>
              <a:rPr lang="en-GB" sz="1600" dirty="0" err="1"/>
              <a:t>ofComputer</a:t>
            </a:r>
            <a:r>
              <a:rPr lang="en-GB" sz="1600" dirty="0"/>
              <a:t> Vision 1(4), 333–356.URL: </a:t>
            </a:r>
            <a:r>
              <a:rPr lang="en-GB" sz="1600" dirty="0">
                <a:hlinkClick r:id="rId3"/>
              </a:rPr>
              <a:t>https://doi.org/10.1007/BF00133571</a:t>
            </a:r>
            <a:endParaRPr lang="en-GB" sz="1600" dirty="0"/>
          </a:p>
          <a:p>
            <a:pPr marL="0" indent="0">
              <a:buNone/>
            </a:pPr>
            <a:r>
              <a:rPr lang="en-GB" sz="1600" b="1" dirty="0"/>
              <a:t>[2]</a:t>
            </a:r>
            <a:r>
              <a:rPr lang="en-GB" sz="1600" dirty="0"/>
              <a:t> Chuang, I., Lee, A., Gao, D., Naddaf-</a:t>
            </a:r>
            <a:r>
              <a:rPr lang="en-GB" sz="1600" dirty="0" err="1"/>
              <a:t>Sh</a:t>
            </a:r>
            <a:r>
              <a:rPr lang="en-GB" sz="1600" dirty="0"/>
              <a:t>, M.-M. and Soltani, I. (2025), ‘Active Vision Might </a:t>
            </a:r>
            <a:r>
              <a:rPr lang="en-GB" sz="1600" dirty="0" err="1"/>
              <a:t>BeAll</a:t>
            </a:r>
            <a:r>
              <a:rPr lang="en-GB" sz="1600" dirty="0"/>
              <a:t> You Need: Exploring Active Vision in Bimanual Robotic Manipulation’. arXiv:2409.17435[cs].URL: </a:t>
            </a:r>
            <a:r>
              <a:rPr lang="en-GB" sz="1600" dirty="0">
                <a:hlinkClick r:id="rId4"/>
              </a:rPr>
              <a:t>http://arxiv.org/abs/2409.17435</a:t>
            </a:r>
            <a:endParaRPr lang="en-GB" sz="1600" dirty="0"/>
          </a:p>
          <a:p>
            <a:pPr marL="0" indent="0">
              <a:buNone/>
            </a:pPr>
            <a:r>
              <a:rPr lang="en-GB" sz="1600" b="1" dirty="0"/>
              <a:t>[3]</a:t>
            </a:r>
            <a:r>
              <a:rPr lang="en-GB" sz="1600" dirty="0"/>
              <a:t> Kempka, M., </a:t>
            </a:r>
            <a:r>
              <a:rPr lang="en-GB" sz="1600" dirty="0" err="1"/>
              <a:t>Wydmuch</a:t>
            </a:r>
            <a:r>
              <a:rPr lang="en-GB" sz="1600" dirty="0"/>
              <a:t>, M., </a:t>
            </a:r>
            <a:r>
              <a:rPr lang="en-GB" sz="1600" dirty="0" err="1"/>
              <a:t>Runc</a:t>
            </a:r>
            <a:r>
              <a:rPr lang="en-GB" sz="1600" dirty="0"/>
              <a:t>, G., Toczek, J. and </a:t>
            </a:r>
            <a:r>
              <a:rPr lang="en-GB" sz="1600" dirty="0" err="1"/>
              <a:t>Jaśkowski</a:t>
            </a:r>
            <a:r>
              <a:rPr lang="en-GB" sz="1600" dirty="0"/>
              <a:t>, W. (2016), </a:t>
            </a:r>
            <a:r>
              <a:rPr lang="en-GB" sz="1600" dirty="0" err="1"/>
              <a:t>ViZDoom</a:t>
            </a:r>
            <a:r>
              <a:rPr lang="en-GB" sz="1600" dirty="0"/>
              <a:t>: </a:t>
            </a:r>
            <a:r>
              <a:rPr lang="en-GB" sz="1600" dirty="0" err="1"/>
              <a:t>ADoom</a:t>
            </a:r>
            <a:r>
              <a:rPr lang="en-GB" sz="1600" dirty="0"/>
              <a:t>-based AI research platform for visual reinforcement learning, in ‘2016 IEEE </a:t>
            </a:r>
            <a:r>
              <a:rPr lang="en-GB" sz="1600" dirty="0" err="1"/>
              <a:t>Conferenceon</a:t>
            </a:r>
            <a:r>
              <a:rPr lang="en-GB" sz="1600" dirty="0"/>
              <a:t> Computational Intelligence and Games (CIG)’, pp. 1–8.URL: </a:t>
            </a:r>
            <a:r>
              <a:rPr lang="en-GB" sz="1600" dirty="0">
                <a:hlinkClick r:id="rId5"/>
              </a:rPr>
              <a:t>https://ieeexplore.ieee.org/document/7860433/</a:t>
            </a:r>
            <a:endParaRPr lang="en-GB" sz="1600" dirty="0"/>
          </a:p>
          <a:p>
            <a:pPr marL="0" indent="0">
              <a:buNone/>
            </a:pPr>
            <a:r>
              <a:rPr lang="en-GB" sz="1600" b="1" dirty="0"/>
              <a:t>[4]</a:t>
            </a:r>
            <a:r>
              <a:rPr lang="en-GB" sz="1600" dirty="0"/>
              <a:t> Kerr, J., Hari, K., Weber, E., Kim, C. M., Yi, B., Bonnen, T., Goldberg, K. and </a:t>
            </a:r>
            <a:r>
              <a:rPr lang="en-GB" sz="1600" dirty="0" err="1"/>
              <a:t>Kanazawa,A</a:t>
            </a:r>
            <a:r>
              <a:rPr lang="en-GB" sz="1600" dirty="0"/>
              <a:t>. (2025), ‘Eye, Robot: Learning to Look to Act with a BC-RL Perception-Action Loop’.arXiv:2506.10968 [cs].URL: </a:t>
            </a:r>
            <a:r>
              <a:rPr lang="en-GB" sz="1600" dirty="0">
                <a:hlinkClick r:id="rId6"/>
              </a:rPr>
              <a:t>http://arxiv.org/abs/2506.10968</a:t>
            </a:r>
            <a:endParaRPr lang="en-GB" sz="1600" dirty="0"/>
          </a:p>
          <a:p>
            <a:pPr marL="0" indent="0">
              <a:buNone/>
            </a:pPr>
            <a:r>
              <a:rPr lang="en-GB" sz="1600" b="1" dirty="0"/>
              <a:t>[5]</a:t>
            </a:r>
            <a:r>
              <a:rPr lang="en-GB" sz="1600" dirty="0"/>
              <a:t> Li, Z. (2024), ‘Advances in Deep Reinforcement Learning for Computer Vision </a:t>
            </a:r>
            <a:r>
              <a:rPr lang="en-GB" sz="1600" dirty="0" err="1"/>
              <a:t>Applications’,Journal</a:t>
            </a:r>
            <a:r>
              <a:rPr lang="en-GB" sz="1600" dirty="0"/>
              <a:t> of Industrial Engineering and Applied Science 2(6), 16–26.URL: </a:t>
            </a:r>
            <a:r>
              <a:rPr lang="en-GB" sz="1600" dirty="0">
                <a:hlinkClick r:id="rId7"/>
              </a:rPr>
              <a:t>https://www.suaspress.org/ojs/index.php/JIEAS/article/view/v2n6a03</a:t>
            </a:r>
            <a:endParaRPr lang="en-GB" sz="1600" b="1" dirty="0"/>
          </a:p>
          <a:p>
            <a:pPr marL="0" indent="0">
              <a:buNone/>
            </a:pPr>
            <a:r>
              <a:rPr lang="en-GB" sz="1600" b="1" dirty="0"/>
              <a:t>[6]</a:t>
            </a:r>
            <a:r>
              <a:rPr lang="en-GB" sz="1600" dirty="0"/>
              <a:t> </a:t>
            </a:r>
            <a:r>
              <a:rPr lang="en-GB" sz="1600" dirty="0" err="1"/>
              <a:t>Rabault</a:t>
            </a:r>
            <a:r>
              <a:rPr lang="en-GB" sz="1600" dirty="0"/>
              <a:t>, J. &amp; Ren, Feng &amp; Zhang, Wei &amp; Tang, Hui &amp; Xu, Hui. (2020). DEEP REINFORCEMENT LEARNING IN FLUID MECHANICS: A PROMISING METHOD FOR BOTH ACTIVE FLOW CONTROL AND SHAPE OPTIMIZATION. 10.13140/RG.2.2.29692.28800.</a:t>
            </a:r>
          </a:p>
          <a:p>
            <a:pPr marL="0" indent="0">
              <a:buNone/>
            </a:pPr>
            <a:r>
              <a:rPr lang="en-GB" sz="1600" b="1" dirty="0"/>
              <a:t>[7]</a:t>
            </a:r>
            <a:r>
              <a:rPr lang="en-GB" sz="1600" dirty="0"/>
              <a:t> Rangel, G., Cuevas-Tello, J. C., Nunez-Varela, J., Puente, C. and Silva-Trujillo, A. G.(2024), ‘A Survey on Convolutional Neural Networks and Their Performance Lim-</a:t>
            </a:r>
            <a:r>
              <a:rPr lang="en-GB" sz="1600" dirty="0" err="1"/>
              <a:t>itations</a:t>
            </a:r>
            <a:r>
              <a:rPr lang="en-GB" sz="1600" dirty="0"/>
              <a:t> in Image Recognition Tasks’, Journal of Sensors 2024(1), 2797320. _</a:t>
            </a:r>
            <a:r>
              <a:rPr lang="en-GB" sz="1600" dirty="0" err="1"/>
              <a:t>eprint:https</a:t>
            </a:r>
            <a:r>
              <a:rPr lang="en-GB" sz="1600" dirty="0"/>
              <a:t>://onlinelibrary.wiley.com/</a:t>
            </a:r>
            <a:r>
              <a:rPr lang="en-GB" sz="1600" dirty="0" err="1"/>
              <a:t>doi</a:t>
            </a:r>
            <a:r>
              <a:rPr lang="en-GB" sz="1600" dirty="0"/>
              <a:t>/pdf/10.1155/2024/2797320.URL: </a:t>
            </a:r>
            <a:r>
              <a:rPr lang="en-GB" sz="1600" dirty="0">
                <a:hlinkClick r:id="rId8"/>
              </a:rPr>
              <a:t>https://onlinelibrary.wiley.com/doi/abs/10.1155/2024/2797320</a:t>
            </a:r>
            <a:endParaRPr lang="en-GB" sz="1600" dirty="0"/>
          </a:p>
          <a:p>
            <a:pPr marL="0" indent="0">
              <a:buNone/>
            </a:pPr>
            <a:r>
              <a:rPr lang="en-GB" sz="1600" b="1" dirty="0"/>
              <a:t>[8]</a:t>
            </a:r>
            <a:r>
              <a:rPr lang="en-GB" sz="1600" dirty="0"/>
              <a:t> Raffin, A., Hill, A., Gleave, A., </a:t>
            </a:r>
            <a:r>
              <a:rPr lang="en-GB" sz="1600" dirty="0" err="1"/>
              <a:t>Kanervisto</a:t>
            </a:r>
            <a:r>
              <a:rPr lang="en-GB" sz="1600" dirty="0"/>
              <a:t>, A., Ernestus, M. and Dormann, N. (2021), ‘Stable-Baselines3: Reliable Reinforcement Learning Implementations’, 22, 1–8.URL: https://jmlr.org/papers/volume22/20-1364/20-1364.pdf</a:t>
            </a:r>
          </a:p>
          <a:p>
            <a:pPr marL="0" indent="0">
              <a:buNone/>
            </a:pPr>
            <a:r>
              <a:rPr lang="en-GB" sz="1600" b="1" dirty="0"/>
              <a:t>[9]</a:t>
            </a:r>
            <a:r>
              <a:rPr lang="en-GB" sz="1600" dirty="0"/>
              <a:t> Towers, M., Kwiatkowski, A., Terry, J., Balis, J. U., Cola, G. D., </a:t>
            </a:r>
            <a:r>
              <a:rPr lang="en-GB" sz="1600" dirty="0" err="1"/>
              <a:t>Deleu</a:t>
            </a:r>
            <a:r>
              <a:rPr lang="en-GB" sz="1600" dirty="0"/>
              <a:t>, T., </a:t>
            </a:r>
            <a:r>
              <a:rPr lang="en-GB" sz="1600" dirty="0" err="1"/>
              <a:t>Goulão</a:t>
            </a:r>
            <a:r>
              <a:rPr lang="en-GB" sz="1600" dirty="0"/>
              <a:t>, M., </a:t>
            </a:r>
            <a:r>
              <a:rPr lang="en-GB" sz="1600" dirty="0" err="1"/>
              <a:t>Kallinteris,A</a:t>
            </a:r>
            <a:r>
              <a:rPr lang="en-GB" sz="1600" dirty="0"/>
              <a:t>., Krimmel, M., KG, A., Perez-Vicente, R., Pierré, A., Schulhoff, S., Tai, J. J., Tan, </a:t>
            </a:r>
            <a:r>
              <a:rPr lang="en-GB" sz="1600" dirty="0" err="1"/>
              <a:t>H.and</a:t>
            </a:r>
            <a:r>
              <a:rPr lang="en-GB" sz="1600" dirty="0"/>
              <a:t> Younis, O. G. (2025), ‘Gymnasium: A Standard Interface for Reinforcement </a:t>
            </a:r>
            <a:r>
              <a:rPr lang="en-GB" sz="1600" dirty="0" err="1"/>
              <a:t>LearningEnvironments</a:t>
            </a:r>
            <a:r>
              <a:rPr lang="en-GB" sz="1600" dirty="0"/>
              <a:t>’. arXiv:2407.17032 [cs].URL: </a:t>
            </a:r>
            <a:r>
              <a:rPr lang="en-GB" sz="1600" dirty="0">
                <a:hlinkClick r:id="rId9"/>
              </a:rPr>
              <a:t>http://arxiv.org/abs/2407.17032</a:t>
            </a:r>
            <a:endParaRPr lang="en-GB" sz="1600" dirty="0"/>
          </a:p>
          <a:p>
            <a:pPr marL="0" indent="0">
              <a:buNone/>
            </a:pPr>
            <a:r>
              <a:rPr lang="en-GB" sz="1600" b="1" dirty="0"/>
              <a:t>[10]</a:t>
            </a:r>
            <a:r>
              <a:rPr lang="en-GB" sz="1600" dirty="0"/>
              <a:t> Trehan, Shubham &amp; Aakur, Sathyanarayanan. (2021). Towards Active Vision for Action Localization with Reactive Control and Predictive Learning. 10.48550/arXiv.2111.05448. </a:t>
            </a:r>
          </a:p>
          <a:p>
            <a:pPr marL="0" indent="0">
              <a:buNone/>
            </a:pPr>
            <a:r>
              <a:rPr lang="en-GB" sz="1600" b="1" dirty="0"/>
              <a:t>[11]</a:t>
            </a:r>
            <a:r>
              <a:rPr lang="en-GB" sz="1600" dirty="0"/>
              <a:t> Wechsler, H. (1990), Active Perception, in ‘Computational Vision’, Elsevier, pp. 248–300.URL: </a:t>
            </a:r>
            <a:r>
              <a:rPr lang="en-GB" sz="1600" dirty="0">
                <a:hlinkClick r:id="rId10"/>
              </a:rPr>
              <a:t>https://linkinghub.elsevier.com/retrieve/pii/B9780127412450500129</a:t>
            </a:r>
            <a:endParaRPr lang="en-GB" sz="1600" dirty="0"/>
          </a:p>
          <a:p>
            <a:pPr marL="0" indent="0">
              <a:buNone/>
            </a:pPr>
            <a:r>
              <a:rPr lang="en-GB" sz="1600" b="1" dirty="0"/>
              <a:t>[12</a:t>
            </a:r>
            <a:r>
              <a:rPr lang="en-GB" sz="1600" dirty="0"/>
              <a:t>] Yosha, B.. 5 Top Self-Driving Car Manufacturers [Internet]. Yosha Law Firm - Personal Injury Lawyers. 2023 Feb [cited 2026 Mar 23]. Available from: </a:t>
            </a:r>
            <a:r>
              <a:rPr lang="en-GB" sz="1600" dirty="0">
                <a:hlinkClick r:id="rId11"/>
              </a:rPr>
              <a:t>https://yoshalawfirm.com/blog/5-top-self-driving-car-manufacturers/</a:t>
            </a:r>
            <a:endParaRPr lang="en-GB" sz="1600" dirty="0"/>
          </a:p>
          <a:p>
            <a:pPr marL="0" indent="0">
              <a:buNone/>
            </a:pPr>
            <a:r>
              <a:rPr lang="en-GB" sz="1600" dirty="0"/>
              <a:t>[13] Hartwig, B.. 7 key robot applications in automotive manufacturing [Internet]. The Robot Report. 2019 Nov [cited 2026 Mar 23]. Available from: </a:t>
            </a:r>
            <a:r>
              <a:rPr lang="en-GB" sz="1600" dirty="0">
                <a:hlinkClick r:id="rId12"/>
              </a:rPr>
              <a:t>https://www.therobotreport.com/7-key-robot-applications-in-automotive-manufacturing/</a:t>
            </a:r>
            <a:endParaRPr lang="en-GB" sz="1600" dirty="0"/>
          </a:p>
          <a:p>
            <a:pPr marL="0" indent="0">
              <a:buNone/>
            </a:pPr>
            <a:endParaRPr lang="en-GB" sz="1600" dirty="0"/>
          </a:p>
        </p:txBody>
      </p:sp>
    </p:spTree>
    <p:extLst>
      <p:ext uri="{BB962C8B-B14F-4D97-AF65-F5344CB8AC3E}">
        <p14:creationId xmlns:p14="http://schemas.microsoft.com/office/powerpoint/2010/main" val="3320657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10EF-8CC7-9169-3DC4-38D71F6E82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09F9C3-5E95-6258-A9AC-2D5A41D7DBFF}"/>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9228739-DC24-488A-6B18-4C50EB612205}"/>
              </a:ext>
            </a:extLst>
          </p:cNvPr>
          <p:cNvSpPr>
            <a:spLocks noGrp="1"/>
          </p:cNvSpPr>
          <p:nvPr>
            <p:ph type="title"/>
          </p:nvPr>
        </p:nvSpPr>
        <p:spPr/>
        <p:txBody>
          <a:bodyPr/>
          <a:lstStyle/>
          <a:p>
            <a:r>
              <a:rPr lang="en-GB" dirty="0">
                <a:solidFill>
                  <a:schemeClr val="bg1"/>
                </a:solidFill>
              </a:rPr>
              <a:t>Thank you</a:t>
            </a:r>
          </a:p>
        </p:txBody>
      </p:sp>
      <p:sp>
        <p:nvSpPr>
          <p:cNvPr id="3" name="Content Placeholder 2">
            <a:extLst>
              <a:ext uri="{FF2B5EF4-FFF2-40B4-BE49-F238E27FC236}">
                <a16:creationId xmlns:a16="http://schemas.microsoft.com/office/drawing/2014/main" id="{BFECC2D4-4A00-7AD0-BCFA-56FD5139E83E}"/>
              </a:ext>
            </a:extLst>
          </p:cNvPr>
          <p:cNvSpPr>
            <a:spLocks noGrp="1"/>
          </p:cNvSpPr>
          <p:nvPr>
            <p:ph idx="1"/>
          </p:nvPr>
        </p:nvSpPr>
        <p:spPr>
          <a:xfrm>
            <a:off x="838200" y="2855912"/>
            <a:ext cx="10515600" cy="1146175"/>
          </a:xfrm>
        </p:spPr>
        <p:txBody>
          <a:bodyPr>
            <a:normAutofit/>
          </a:bodyPr>
          <a:lstStyle/>
          <a:p>
            <a:pPr marL="0" indent="0" algn="ctr">
              <a:buNone/>
            </a:pPr>
            <a:r>
              <a:rPr lang="en-GB" sz="7200" dirty="0"/>
              <a:t>Any Questions?</a:t>
            </a:r>
          </a:p>
        </p:txBody>
      </p:sp>
    </p:spTree>
    <p:extLst>
      <p:ext uri="{BB962C8B-B14F-4D97-AF65-F5344CB8AC3E}">
        <p14:creationId xmlns:p14="http://schemas.microsoft.com/office/powerpoint/2010/main" val="2919964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4FB1-BFE2-A59D-F06F-F929750ED05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119E129-CB70-9F3B-0BC2-B38DB230C551}"/>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065D9DE-4273-DAD6-E336-61A974E216F3}"/>
              </a:ext>
            </a:extLst>
          </p:cNvPr>
          <p:cNvSpPr>
            <a:spLocks noGrp="1"/>
          </p:cNvSpPr>
          <p:nvPr>
            <p:ph type="title"/>
          </p:nvPr>
        </p:nvSpPr>
        <p:spPr>
          <a:xfrm>
            <a:off x="130277" y="111182"/>
            <a:ext cx="10515600" cy="1325563"/>
          </a:xfrm>
        </p:spPr>
        <p:txBody>
          <a:bodyPr/>
          <a:lstStyle/>
          <a:p>
            <a:r>
              <a:rPr lang="en-GB" dirty="0">
                <a:solidFill>
                  <a:schemeClr val="bg1"/>
                </a:solidFill>
              </a:rPr>
              <a:t>Glossary</a:t>
            </a:r>
          </a:p>
        </p:txBody>
      </p:sp>
      <p:sp>
        <p:nvSpPr>
          <p:cNvPr id="5" name="Rectangle 1">
            <a:extLst>
              <a:ext uri="{FF2B5EF4-FFF2-40B4-BE49-F238E27FC236}">
                <a16:creationId xmlns:a16="http://schemas.microsoft.com/office/drawing/2014/main" id="{3208F3BC-0686-EA70-7306-D9455DB4E6C5}"/>
              </a:ext>
            </a:extLst>
          </p:cNvPr>
          <p:cNvSpPr>
            <a:spLocks noGrp="1" noChangeArrowheads="1"/>
          </p:cNvSpPr>
          <p:nvPr>
            <p:ph idx="1"/>
          </p:nvPr>
        </p:nvSpPr>
        <p:spPr bwMode="auto">
          <a:xfrm>
            <a:off x="130276" y="1360728"/>
            <a:ext cx="5812707"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rgbClr val="1F1F1F"/>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Action Code Script (ACS):</a:t>
            </a:r>
            <a:r>
              <a:rPr kumimoji="0" lang="en-US" altLang="en-US" sz="1400" b="0" i="0" u="none" strike="noStrike" cap="none" normalizeH="0" baseline="0" dirty="0">
                <a:ln>
                  <a:noFill/>
                </a:ln>
                <a:solidFill>
                  <a:srgbClr val="1F1F1F"/>
                </a:solidFill>
                <a:effectLst/>
                <a:latin typeface="+mj-lt"/>
              </a:rPr>
              <a:t> The native scripting language used in the ViZDoom engine to dictate map logic, entity behaviors, spawn randomizations, and environmental states.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Active Vision:</a:t>
            </a:r>
            <a:r>
              <a:rPr kumimoji="0" lang="en-US" altLang="en-US" sz="1400" b="0" i="0" u="none" strike="noStrike" cap="none" normalizeH="0" baseline="0" dirty="0">
                <a:ln>
                  <a:noFill/>
                </a:ln>
                <a:solidFill>
                  <a:srgbClr val="1F1F1F"/>
                </a:solidFill>
                <a:effectLst/>
                <a:latin typeface="+mj-lt"/>
              </a:rPr>
              <a:t> A perception paradigm where an observer dynamically manipulates its sensory apparatus (e.g., panning a camera) to solve visual problems more efficiently. It relies on biological "look to act" principles to overcome the limitations of fixed viewpoints.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rgbClr val="1F1F1F"/>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Actor-Critic Architecture:</a:t>
            </a:r>
            <a:r>
              <a:rPr kumimoji="0" lang="en-US" altLang="en-US" sz="1400" b="0" i="0" u="none" strike="noStrike" cap="none" normalizeH="0" baseline="0" dirty="0">
                <a:ln>
                  <a:noFill/>
                </a:ln>
                <a:solidFill>
                  <a:srgbClr val="1F1F1F"/>
                </a:solidFill>
                <a:effectLst/>
                <a:latin typeface="+mj-lt"/>
              </a:rPr>
              <a:t> A neural network design used in reinforcement learning that is bifurcated into two heads: the </a:t>
            </a:r>
            <a:r>
              <a:rPr kumimoji="0" lang="en-US" altLang="en-US" sz="1400" b="0" i="1" u="none" strike="noStrike" cap="none" normalizeH="0" baseline="0" dirty="0">
                <a:ln>
                  <a:noFill/>
                </a:ln>
                <a:solidFill>
                  <a:srgbClr val="1F1F1F"/>
                </a:solidFill>
                <a:effectLst/>
                <a:latin typeface="+mj-lt"/>
              </a:rPr>
              <a:t>Actor</a:t>
            </a:r>
            <a:r>
              <a:rPr kumimoji="0" lang="en-US" altLang="en-US" sz="1400" b="0" i="0" u="none" strike="noStrike" cap="none" normalizeH="0" baseline="0" dirty="0">
                <a:ln>
                  <a:noFill/>
                </a:ln>
                <a:solidFill>
                  <a:srgbClr val="1F1F1F"/>
                </a:solidFill>
                <a:effectLst/>
                <a:latin typeface="+mj-lt"/>
              </a:rPr>
              <a:t> (which chooses actions based on the current policy) and the </a:t>
            </a:r>
            <a:r>
              <a:rPr kumimoji="0" lang="en-US" altLang="en-US" sz="1400" b="0" i="1" u="none" strike="noStrike" cap="none" normalizeH="0" baseline="0" dirty="0">
                <a:ln>
                  <a:noFill/>
                </a:ln>
                <a:solidFill>
                  <a:srgbClr val="1F1F1F"/>
                </a:solidFill>
                <a:effectLst/>
                <a:latin typeface="+mj-lt"/>
              </a:rPr>
              <a:t>Critic</a:t>
            </a:r>
            <a:r>
              <a:rPr kumimoji="0" lang="en-US" altLang="en-US" sz="1400" b="0" i="0" u="none" strike="noStrike" cap="none" normalizeH="0" baseline="0" dirty="0">
                <a:ln>
                  <a:noFill/>
                </a:ln>
                <a:solidFill>
                  <a:srgbClr val="1F1F1F"/>
                </a:solidFill>
                <a:effectLst/>
                <a:latin typeface="+mj-lt"/>
              </a:rPr>
              <a:t> (which evaluates the state to guide and stabilize the Actor's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Batch Size:</a:t>
            </a:r>
            <a:r>
              <a:rPr kumimoji="0" lang="en-US" altLang="en-US" sz="1400" b="0" i="0" u="none" strike="noStrike" cap="none" normalizeH="0" baseline="0" dirty="0">
                <a:ln>
                  <a:noFill/>
                </a:ln>
                <a:solidFill>
                  <a:srgbClr val="1F1F1F"/>
                </a:solidFill>
                <a:effectLst/>
                <a:latin typeface="+mj-lt"/>
              </a:rPr>
              <a:t> A machine learning hyperparameter that determines the number of training samples processed in a single pass before updating the internal parameters of the neural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Bilinear Interpolation:</a:t>
            </a:r>
            <a:r>
              <a:rPr kumimoji="0" lang="en-US" altLang="en-US" sz="1400" b="0" i="0" u="none" strike="noStrike" cap="none" normalizeH="0" baseline="0" dirty="0">
                <a:ln>
                  <a:noFill/>
                </a:ln>
                <a:solidFill>
                  <a:srgbClr val="1F1F1F"/>
                </a:solidFill>
                <a:effectLst/>
                <a:latin typeface="+mj-lt"/>
              </a:rPr>
              <a:t> A mathematical image-processing technique used to resize an image. In this project, it is used to scale the tightly cropped foveal image back up to the original 160 x 120 resolution to maintain a consistent neural network size.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solidFill>
                <a:srgbClr val="1F1F1F"/>
              </a:solidFill>
              <a:latin typeface="+mj-lt"/>
            </a:endParaRPr>
          </a:p>
          <a:p>
            <a:pPr marL="0" indent="0" eaLnBrk="0" fontAlgn="base" hangingPunct="0">
              <a:lnSpc>
                <a:spcPct val="100000"/>
              </a:lnSpc>
              <a:spcBef>
                <a:spcPct val="0"/>
              </a:spcBef>
              <a:spcAft>
                <a:spcPct val="0"/>
              </a:spcAft>
              <a:buFontTx/>
              <a:buChar char="•"/>
            </a:pPr>
            <a:r>
              <a:rPr lang="en-US" altLang="en-US" sz="1400" b="1" dirty="0">
                <a:solidFill>
                  <a:srgbClr val="1F1F1F"/>
                </a:solidFill>
              </a:rPr>
              <a:t>Catastrophic Forgetting:</a:t>
            </a:r>
            <a:r>
              <a:rPr lang="en-US" altLang="en-US" sz="1400" dirty="0">
                <a:solidFill>
                  <a:srgbClr val="1F1F1F"/>
                </a:solidFill>
              </a:rPr>
              <a:t> A phenomenon where a neural network abruptly and completely forgets previously learned information (such as how to attack a target) upon learning new information or undergoing a destructively large weight update.</a:t>
            </a:r>
            <a:endParaRPr kumimoji="0" lang="en-US" altLang="en-US" sz="1400" b="0" i="0" u="none" strike="noStrike" cap="none" normalizeH="0" baseline="0" dirty="0">
              <a:ln>
                <a:noFill/>
              </a:ln>
              <a:solidFill>
                <a:srgbClr val="1F1F1F"/>
              </a:solidFill>
              <a:effectLst/>
              <a:latin typeface="+mj-lt"/>
            </a:endParaRPr>
          </a:p>
        </p:txBody>
      </p:sp>
      <p:sp>
        <p:nvSpPr>
          <p:cNvPr id="9" name="TextBox 8">
            <a:extLst>
              <a:ext uri="{FF2B5EF4-FFF2-40B4-BE49-F238E27FC236}">
                <a16:creationId xmlns:a16="http://schemas.microsoft.com/office/drawing/2014/main" id="{263A736E-1729-EEE9-86CC-D45BDA17DB64}"/>
              </a:ext>
            </a:extLst>
          </p:cNvPr>
          <p:cNvSpPr txBox="1"/>
          <p:nvPr/>
        </p:nvSpPr>
        <p:spPr>
          <a:xfrm>
            <a:off x="6073257" y="1588100"/>
            <a:ext cx="5988467" cy="5158718"/>
          </a:xfrm>
          <a:prstGeom prst="rect">
            <a:avLst/>
          </a:prstGeom>
          <a:noFill/>
        </p:spPr>
        <p:txBody>
          <a:bodyPr wrap="square">
            <a:spAutoFit/>
          </a:bodyPr>
          <a:lstStyle/>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Clipped Probability Ratios:</a:t>
            </a:r>
            <a:r>
              <a:rPr kumimoji="0" lang="en-US" altLang="en-US" sz="1400" b="0" i="0" u="none" strike="noStrike" cap="none" normalizeH="0" baseline="0" dirty="0">
                <a:ln>
                  <a:noFill/>
                </a:ln>
                <a:solidFill>
                  <a:srgbClr val="1F1F1F"/>
                </a:solidFill>
                <a:effectLst/>
                <a:latin typeface="+mj-lt"/>
              </a:rPr>
              <a:t> A mathematical technique used by the PPO algorithm to constrain the ratio of a new policy to an old policy within a specific interval (typically [1 + </a:t>
            </a:r>
            <a:r>
              <a:rPr kumimoji="0" lang="el-GR" altLang="en-US" sz="1400" b="0" i="0" u="none" strike="noStrike" cap="none" normalizeH="0" baseline="0" dirty="0">
                <a:ln>
                  <a:noFill/>
                </a:ln>
                <a:solidFill>
                  <a:srgbClr val="1F1F1F"/>
                </a:solidFill>
                <a:effectLst/>
                <a:latin typeface="+mj-lt"/>
                <a:ea typeface="Cambria Math" panose="02040503050406030204" pitchFamily="18" charset="0"/>
              </a:rPr>
              <a:t>ε</a:t>
            </a:r>
            <a:r>
              <a:rPr kumimoji="0" lang="en-GB" altLang="en-US" sz="1400" b="0" i="0" u="none" strike="noStrike" cap="none" normalizeH="0" baseline="0" dirty="0">
                <a:ln>
                  <a:noFill/>
                </a:ln>
                <a:solidFill>
                  <a:srgbClr val="1F1F1F"/>
                </a:solidFill>
                <a:effectLst/>
                <a:latin typeface="+mj-lt"/>
                <a:ea typeface="Cambria Math" panose="02040503050406030204" pitchFamily="18" charset="0"/>
              </a:rPr>
              <a:t>, 1 –</a:t>
            </a:r>
            <a:r>
              <a:rPr kumimoji="0" lang="el-GR" altLang="en-US" sz="1400" b="0" i="0" u="none" strike="noStrike" cap="none" normalizeH="0" baseline="0" dirty="0">
                <a:ln>
                  <a:noFill/>
                </a:ln>
                <a:solidFill>
                  <a:srgbClr val="1F1F1F"/>
                </a:solidFill>
                <a:effectLst/>
                <a:latin typeface="+mj-lt"/>
                <a:ea typeface="Cambria Math" panose="02040503050406030204" pitchFamily="18" charset="0"/>
              </a:rPr>
              <a:t> ε</a:t>
            </a:r>
            <a:r>
              <a:rPr kumimoji="0" lang="en-GB" altLang="en-US" sz="1400" b="0" i="0" u="none" strike="noStrike" cap="none" normalizeH="0" baseline="0" dirty="0">
                <a:ln>
                  <a:noFill/>
                </a:ln>
                <a:solidFill>
                  <a:srgbClr val="1F1F1F"/>
                </a:solidFill>
                <a:effectLst/>
                <a:latin typeface="+mj-lt"/>
                <a:ea typeface="Cambria Math" panose="02040503050406030204" pitchFamily="18" charset="0"/>
              </a:rPr>
              <a:t>] </a:t>
            </a:r>
            <a:r>
              <a:rPr kumimoji="0" lang="en-US" altLang="en-US" sz="1400" b="0" i="0" u="none" strike="noStrike" cap="none" normalizeH="0" baseline="0" dirty="0">
                <a:ln>
                  <a:noFill/>
                </a:ln>
                <a:solidFill>
                  <a:srgbClr val="1F1F1F"/>
                </a:solidFill>
                <a:effectLst/>
                <a:latin typeface="+mj-lt"/>
              </a:rPr>
              <a:t>). This prevents destructively large updates and ensures stable learning.</a:t>
            </a:r>
          </a:p>
          <a:p>
            <a:pPr lvl="0" eaLnBrk="0" fontAlgn="base" hangingPunct="0">
              <a:spcBef>
                <a:spcPct val="0"/>
              </a:spcBef>
              <a:spcAft>
                <a:spcPct val="0"/>
              </a:spcAft>
            </a:pPr>
            <a:endParaRPr kumimoji="0" lang="en-US" altLang="en-US" sz="1400" b="0" i="0" u="none" strike="noStrike" cap="none" normalizeH="0" baseline="0" dirty="0">
              <a:ln>
                <a:noFill/>
              </a:ln>
              <a:solidFill>
                <a:srgbClr val="1F1F1F"/>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Convolutional Neural Network (CNN):</a:t>
            </a:r>
            <a:r>
              <a:rPr kumimoji="0" lang="en-US" altLang="en-US" sz="1400" b="0" i="0" u="none" strike="noStrike" cap="none" normalizeH="0" baseline="0" dirty="0">
                <a:ln>
                  <a:noFill/>
                </a:ln>
                <a:solidFill>
                  <a:srgbClr val="1F1F1F"/>
                </a:solidFill>
                <a:effectLst/>
                <a:latin typeface="+mj-lt"/>
              </a:rPr>
              <a:t> A class of deep neural networks commonly used to analyze visual imagery. It operates by passing raw pixel data through layers of filters to extract spatial hierarchies and recognize shapes or objects.</a:t>
            </a:r>
          </a:p>
          <a:p>
            <a:pPr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Confidence Interval: </a:t>
            </a:r>
            <a:r>
              <a:rPr lang="en-GB" sz="1400" dirty="0"/>
              <a:t>a range of values, derived from sample data, that is likely to contain the value of an unknown population parameter (such as a mean or proportion). It quantifies uncertainty by providing a point estimate plus or minus a margin of error, usually at a 95% confidence level (This indicates that if the same study were repeated multiple times, the resulting interval would contain the true population parameter 95% of the time.)</a:t>
            </a:r>
            <a:endParaRPr lang="en-US" altLang="en-US" sz="14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Deep Reinforcement Learning (DRL):</a:t>
            </a:r>
            <a:r>
              <a:rPr kumimoji="0" lang="en-US" altLang="en-US" sz="1400" b="0" i="0" u="none" strike="noStrike" cap="none" normalizeH="0" baseline="0" dirty="0">
                <a:ln>
                  <a:noFill/>
                </a:ln>
                <a:solidFill>
                  <a:srgbClr val="1F1F1F"/>
                </a:solidFill>
                <a:effectLst/>
                <a:latin typeface="+mj-lt"/>
              </a:rPr>
              <a:t> A subfield of machine learning that combines artificial neural networks with reinforcement learning, allowing an agent to learn optimal policies directly from high-dimensional, complex inputs like raw screen pixels.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1F1F1F"/>
                </a:solidFill>
                <a:effectLst/>
                <a:latin typeface="+mj-lt"/>
              </a:rPr>
              <a:t>Entropy Coefficient:</a:t>
            </a:r>
            <a:r>
              <a:rPr kumimoji="0" lang="en-US" altLang="en-US" sz="1400" b="0" i="0" u="none" strike="noStrike" cap="none" normalizeH="0" baseline="0" dirty="0">
                <a:ln>
                  <a:noFill/>
                </a:ln>
                <a:solidFill>
                  <a:srgbClr val="1F1F1F"/>
                </a:solidFill>
                <a:effectLst/>
                <a:latin typeface="+mj-lt"/>
              </a:rPr>
              <a:t> A hyperparameter in reinforcement learning algorithms that encourages the agent to explore its environment by penalizing overly predictable or deterministic actions.</a:t>
            </a:r>
          </a:p>
        </p:txBody>
      </p:sp>
    </p:spTree>
    <p:extLst>
      <p:ext uri="{BB962C8B-B14F-4D97-AF65-F5344CB8AC3E}">
        <p14:creationId xmlns:p14="http://schemas.microsoft.com/office/powerpoint/2010/main" val="2248948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4A48-FACB-295C-B8FE-06677A60DC5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AE5667-C296-985D-DFCD-BE1B6754FACD}"/>
              </a:ext>
            </a:extLst>
          </p:cNvPr>
          <p:cNvSpPr txBox="1"/>
          <p:nvPr/>
        </p:nvSpPr>
        <p:spPr>
          <a:xfrm>
            <a:off x="-43015" y="1659285"/>
            <a:ext cx="5812707" cy="4832092"/>
          </a:xfrm>
          <a:prstGeom prst="rect">
            <a:avLst/>
          </a:prstGeom>
          <a:noFill/>
        </p:spPr>
        <p:txBody>
          <a:bodyPr wrap="square">
            <a:spAutoFit/>
          </a:bodyPr>
          <a:lstStyle/>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Euclidean Distance:</a:t>
            </a:r>
            <a:r>
              <a:rPr kumimoji="0" lang="en-US" altLang="en-US" sz="1400" b="0" i="0" u="none" strike="noStrike" cap="none" normalizeH="0" baseline="0" dirty="0">
                <a:ln>
                  <a:noFill/>
                </a:ln>
                <a:solidFill>
                  <a:srgbClr val="1F1F1F"/>
                </a:solidFill>
                <a:effectLst/>
                <a:latin typeface="+mj-lt"/>
              </a:rPr>
              <a:t> The straight-line physical distance between two points in space. Used in this project's reward engineering to calculate how perfectly aligned the agent's camera is with the center of the target enemy.</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Field of View (FOV):</a:t>
            </a:r>
            <a:r>
              <a:rPr kumimoji="0" lang="en-US" altLang="en-US" sz="1400" b="0" i="0" u="none" strike="noStrike" cap="none" normalizeH="0" baseline="0" dirty="0">
                <a:ln>
                  <a:noFill/>
                </a:ln>
                <a:solidFill>
                  <a:srgbClr val="1F1F1F"/>
                </a:solidFill>
                <a:effectLst/>
                <a:latin typeface="+mj-lt"/>
              </a:rPr>
              <a:t> The extent of the observable world that is seen at any given moment through a camera or visual sensor.</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Foveation (Foveal Sensor):</a:t>
            </a:r>
            <a:r>
              <a:rPr kumimoji="0" lang="en-US" altLang="en-US" sz="1400" b="0" i="0" u="none" strike="noStrike" cap="none" normalizeH="0" baseline="0" dirty="0">
                <a:ln>
                  <a:noFill/>
                </a:ln>
                <a:solidFill>
                  <a:srgbClr val="1F1F1F"/>
                </a:solidFill>
                <a:effectLst/>
                <a:latin typeface="+mj-lt"/>
              </a:rPr>
              <a:t> A visual mechanism inspired by biology where the center of the gaze maintains high resolution and detail, while peripheral vision is heavily reduced, cropped, or discarded.</a:t>
            </a:r>
          </a:p>
          <a:p>
            <a:pPr lvl="0" eaLnBrk="0" fontAlgn="base" hangingPunct="0">
              <a:spcBef>
                <a:spcPct val="0"/>
              </a:spcBef>
              <a:spcAft>
                <a:spcPct val="0"/>
              </a:spcAft>
              <a:buFontTx/>
              <a:buChar char="•"/>
            </a:pPr>
            <a:endParaRPr kumimoji="0" lang="en-US" altLang="en-US" sz="1400" b="0" i="0" u="none" strike="noStrike" cap="none" normalizeH="0" baseline="0" dirty="0">
              <a:ln>
                <a:noFill/>
              </a:ln>
              <a:solidFill>
                <a:srgbClr val="1F1F1F"/>
              </a:solidFill>
              <a:effectLst/>
              <a:latin typeface="+mj-lt"/>
            </a:endParaRP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Gymnasium API:</a:t>
            </a:r>
            <a:r>
              <a:rPr kumimoji="0" lang="en-US" altLang="en-US" sz="1400" b="0" i="0" u="none" strike="noStrike" cap="none" normalizeH="0" baseline="0" dirty="0">
                <a:ln>
                  <a:noFill/>
                </a:ln>
                <a:solidFill>
                  <a:srgbClr val="1F1F1F"/>
                </a:solidFill>
                <a:effectLst/>
                <a:latin typeface="+mj-lt"/>
              </a:rPr>
              <a:t> A standardized, open-source programming interface used for developing, standardizing, and comparing reinforcement learning environments.</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Informational Bottleneck:</a:t>
            </a:r>
            <a:r>
              <a:rPr kumimoji="0" lang="en-US" altLang="en-US" sz="1400" b="0" i="0" u="none" strike="noStrike" cap="none" normalizeH="0" baseline="0" dirty="0">
                <a:ln>
                  <a:noFill/>
                </a:ln>
                <a:solidFill>
                  <a:srgbClr val="1F1F1F"/>
                </a:solidFill>
                <a:effectLst/>
                <a:latin typeface="+mj-lt"/>
              </a:rPr>
              <a:t> A deliberate restriction placed on a model's input data (e.g., aggressively cropping the edges of an image) to force the network to develop highly specific, robust behaviors like active camera scanning.</a:t>
            </a:r>
          </a:p>
          <a:p>
            <a:pPr eaLnBrk="0" fontAlgn="base" hangingPunct="0">
              <a:spcBef>
                <a:spcPct val="0"/>
              </a:spcBef>
              <a:spcAft>
                <a:spcPct val="0"/>
              </a:spcAft>
              <a:buFontTx/>
              <a:buChar char="•"/>
            </a:pPr>
            <a:r>
              <a:rPr lang="en-US" altLang="en-US" sz="1400" b="1" dirty="0">
                <a:solidFill>
                  <a:srgbClr val="1F1F1F"/>
                </a:solidFill>
              </a:rPr>
              <a:t>Passive Vision:</a:t>
            </a:r>
            <a:r>
              <a:rPr lang="en-US" altLang="en-US" sz="1400" dirty="0">
                <a:solidFill>
                  <a:srgbClr val="1F1F1F"/>
                </a:solidFill>
              </a:rPr>
              <a:t> A traditional computer vision approach where models analyze static, full-resolution images from a fixed camera perspective without the ability to dynamically alter their viewpoint to see around occlusions.</a:t>
            </a:r>
          </a:p>
          <a:p>
            <a:pPr lvl="0" eaLnBrk="0" fontAlgn="base" hangingPunct="0">
              <a:spcBef>
                <a:spcPct val="0"/>
              </a:spcBef>
              <a:spcAft>
                <a:spcPct val="0"/>
              </a:spcAft>
              <a:buFontTx/>
              <a:buChar char="•"/>
            </a:pPr>
            <a:endParaRPr kumimoji="0" lang="en-US" altLang="en-US" sz="1400" b="0" i="0" u="none" strike="noStrike" cap="none" normalizeH="0" baseline="0" dirty="0">
              <a:ln>
                <a:noFill/>
              </a:ln>
              <a:solidFill>
                <a:srgbClr val="1F1F1F"/>
              </a:solidFill>
              <a:effectLst/>
              <a:latin typeface="+mj-lt"/>
            </a:endParaRPr>
          </a:p>
        </p:txBody>
      </p:sp>
      <p:sp>
        <p:nvSpPr>
          <p:cNvPr id="4" name="TextBox 3">
            <a:extLst>
              <a:ext uri="{FF2B5EF4-FFF2-40B4-BE49-F238E27FC236}">
                <a16:creationId xmlns:a16="http://schemas.microsoft.com/office/drawing/2014/main" id="{4AB80B26-C551-B002-4EA6-76033197B4A8}"/>
              </a:ext>
            </a:extLst>
          </p:cNvPr>
          <p:cNvSpPr txBox="1"/>
          <p:nvPr/>
        </p:nvSpPr>
        <p:spPr>
          <a:xfrm>
            <a:off x="5769692" y="1467465"/>
            <a:ext cx="5986000" cy="4832092"/>
          </a:xfrm>
          <a:prstGeom prst="rect">
            <a:avLst/>
          </a:prstGeom>
          <a:noFill/>
        </p:spPr>
        <p:txBody>
          <a:bodyPr wrap="square">
            <a:spAutoFit/>
          </a:bodyPr>
          <a:lstStyle/>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Proximal Policy Optimization (PPO):</a:t>
            </a:r>
            <a:r>
              <a:rPr kumimoji="0" lang="en-US" altLang="en-US" sz="1400" b="0" i="0" u="none" strike="noStrike" cap="none" normalizeH="0" baseline="0" dirty="0">
                <a:ln>
                  <a:noFill/>
                </a:ln>
                <a:solidFill>
                  <a:srgbClr val="1F1F1F"/>
                </a:solidFill>
                <a:effectLst/>
                <a:latin typeface="+mj-lt"/>
              </a:rPr>
              <a:t> An industry-standard reinforcement learning algorithm developed by OpenAI. It balances ease of tuning, sample complexity, and training stability by strictly controlling how much the policy can change in a single update.</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Reinforcement Learning (RL):</a:t>
            </a:r>
            <a:r>
              <a:rPr kumimoji="0" lang="en-US" altLang="en-US" sz="1400" b="0" i="0" u="none" strike="noStrike" cap="none" normalizeH="0" baseline="0" dirty="0">
                <a:ln>
                  <a:noFill/>
                </a:ln>
                <a:solidFill>
                  <a:srgbClr val="1F1F1F"/>
                </a:solidFill>
                <a:effectLst/>
                <a:latin typeface="+mj-lt"/>
              </a:rPr>
              <a:t> An area of machine learning where an agent learns to make decisions by performing actions in an environment to maximize a cumulative numerical reward.</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Stable-Baselines3 (SB3):</a:t>
            </a:r>
            <a:r>
              <a:rPr kumimoji="0" lang="en-US" altLang="en-US" sz="1400" b="0" i="0" u="none" strike="noStrike" cap="none" normalizeH="0" baseline="0" dirty="0">
                <a:ln>
                  <a:noFill/>
                </a:ln>
                <a:solidFill>
                  <a:srgbClr val="1F1F1F"/>
                </a:solidFill>
                <a:effectLst/>
                <a:latin typeface="+mj-lt"/>
              </a:rPr>
              <a:t> A popular open-source library built on PyTorch that provides highly reliable, benchmarked implementations of deep reinforcement learning algorithms (like PPO).</a:t>
            </a:r>
          </a:p>
          <a:p>
            <a:pPr lvl="0" eaLnBrk="0" fontAlgn="base" hangingPunct="0">
              <a:spcBef>
                <a:spcPct val="0"/>
              </a:spcBef>
              <a:spcAft>
                <a:spcPct val="0"/>
              </a:spcAft>
            </a:pPr>
            <a:endParaRPr kumimoji="0" lang="en-US" altLang="en-US" sz="1400" b="0" i="0" u="none" strike="noStrike" cap="none" normalizeH="0" baseline="0" dirty="0">
              <a:ln>
                <a:noFill/>
              </a:ln>
              <a:solidFill>
                <a:srgbClr val="1F1F1F"/>
              </a:solidFill>
              <a:effectLst/>
              <a:latin typeface="+mj-lt"/>
            </a:endParaRP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ViZDoom:</a:t>
            </a:r>
            <a:r>
              <a:rPr kumimoji="0" lang="en-US" altLang="en-US" sz="1400" b="0" i="0" u="none" strike="noStrike" cap="none" normalizeH="0" baseline="0" dirty="0">
                <a:ln>
                  <a:noFill/>
                </a:ln>
                <a:solidFill>
                  <a:srgbClr val="1F1F1F"/>
                </a:solidFill>
                <a:effectLst/>
                <a:latin typeface="+mj-lt"/>
              </a:rPr>
              <a:t> A 3D AI research platform based on the classic DOOM game engine. It allows agents to navigate and interact using purely raw-pixel screen buffers and supports highly customizable scenario building.</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Visuomotor Mapping:</a:t>
            </a:r>
            <a:r>
              <a:rPr kumimoji="0" lang="en-US" altLang="en-US" sz="1400" b="0" i="0" u="none" strike="noStrike" cap="none" normalizeH="0" baseline="0" dirty="0">
                <a:ln>
                  <a:noFill/>
                </a:ln>
                <a:solidFill>
                  <a:srgbClr val="1F1F1F"/>
                </a:solidFill>
                <a:effectLst/>
                <a:latin typeface="+mj-lt"/>
              </a:rPr>
              <a:t> The fundamental, learned connection between visual inputs (what the agent's camera sees) and motor outputs (how the agent physically moves or reacts).</a:t>
            </a:r>
          </a:p>
          <a:p>
            <a:pPr lvl="0" eaLnBrk="0" fontAlgn="base" hangingPunct="0">
              <a:spcBef>
                <a:spcPct val="0"/>
              </a:spcBef>
              <a:spcAft>
                <a:spcPct val="0"/>
              </a:spcAft>
              <a:buFontTx/>
              <a:buChar char="•"/>
            </a:pPr>
            <a:r>
              <a:rPr kumimoji="0" lang="en-US" altLang="en-US" sz="1400" b="1" i="0" u="none" strike="noStrike" cap="none" normalizeH="0" baseline="0" dirty="0">
                <a:ln>
                  <a:noFill/>
                </a:ln>
                <a:solidFill>
                  <a:srgbClr val="1F1F1F"/>
                </a:solidFill>
                <a:effectLst/>
                <a:latin typeface="+mj-lt"/>
              </a:rPr>
              <a:t>Zero-Shot Generalization:</a:t>
            </a:r>
            <a:r>
              <a:rPr kumimoji="0" lang="en-US" altLang="en-US" sz="1400" b="0" i="0" u="none" strike="noStrike" cap="none" normalizeH="0" baseline="0" dirty="0">
                <a:ln>
                  <a:noFill/>
                </a:ln>
                <a:solidFill>
                  <a:srgbClr val="1F1F1F"/>
                </a:solidFill>
                <a:effectLst/>
                <a:latin typeface="+mj-lt"/>
              </a:rPr>
              <a:t> The ability of a machine learning model to successfully perform a task or recognize objects in an entirely new, unstructured environment that it has never encountered during its training phase.</a:t>
            </a:r>
          </a:p>
          <a:p>
            <a:pPr lvl="0" eaLnBrk="0" fontAlgn="base" hangingPunct="0">
              <a:spcBef>
                <a:spcPct val="0"/>
              </a:spcBef>
              <a:spcAft>
                <a:spcPct val="0"/>
              </a:spcAft>
              <a:buFontTx/>
              <a:buChar char="•"/>
            </a:pPr>
            <a:endParaRPr kumimoji="0" lang="en-US" altLang="en-US" sz="1400" b="1" i="0" u="none" strike="noStrike" cap="none" normalizeH="0" baseline="0" dirty="0">
              <a:ln>
                <a:noFill/>
              </a:ln>
              <a:solidFill>
                <a:srgbClr val="1F1F1F"/>
              </a:solidFill>
              <a:effectLst/>
              <a:latin typeface="+mj-lt"/>
            </a:endParaRPr>
          </a:p>
        </p:txBody>
      </p:sp>
      <p:sp>
        <p:nvSpPr>
          <p:cNvPr id="12" name="Rectangle 11">
            <a:extLst>
              <a:ext uri="{FF2B5EF4-FFF2-40B4-BE49-F238E27FC236}">
                <a16:creationId xmlns:a16="http://schemas.microsoft.com/office/drawing/2014/main" id="{866E27A8-C7BC-2809-9C1A-913F122C7618}"/>
              </a:ext>
            </a:extLst>
          </p:cNvPr>
          <p:cNvSpPr/>
          <p:nvPr/>
        </p:nvSpPr>
        <p:spPr>
          <a:xfrm>
            <a:off x="0" y="0"/>
            <a:ext cx="12192000" cy="14674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1">
            <a:extLst>
              <a:ext uri="{FF2B5EF4-FFF2-40B4-BE49-F238E27FC236}">
                <a16:creationId xmlns:a16="http://schemas.microsoft.com/office/drawing/2014/main" id="{914B8C34-B16B-8286-6B2C-57C443DB4358}"/>
              </a:ext>
            </a:extLst>
          </p:cNvPr>
          <p:cNvSpPr>
            <a:spLocks noGrp="1"/>
          </p:cNvSpPr>
          <p:nvPr>
            <p:ph type="title"/>
          </p:nvPr>
        </p:nvSpPr>
        <p:spPr>
          <a:xfrm>
            <a:off x="130277" y="111182"/>
            <a:ext cx="10515600" cy="1325563"/>
          </a:xfrm>
        </p:spPr>
        <p:txBody>
          <a:bodyPr/>
          <a:lstStyle/>
          <a:p>
            <a:r>
              <a:rPr lang="en-GB" dirty="0">
                <a:solidFill>
                  <a:schemeClr val="bg1"/>
                </a:solidFill>
              </a:rPr>
              <a:t>Glossary</a:t>
            </a:r>
          </a:p>
        </p:txBody>
      </p:sp>
    </p:spTree>
    <p:extLst>
      <p:ext uri="{BB962C8B-B14F-4D97-AF65-F5344CB8AC3E}">
        <p14:creationId xmlns:p14="http://schemas.microsoft.com/office/powerpoint/2010/main" val="161218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825</TotalTime>
  <Words>4344</Words>
  <Application>Microsoft Office PowerPoint</Application>
  <PresentationFormat>Widescreen</PresentationFormat>
  <Paragraphs>204</Paragraphs>
  <Slides>28</Slides>
  <Notes>28</Notes>
  <HiddenSlides>0</HiddenSlides>
  <MMClips>2</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Aptos</vt:lpstr>
      <vt:lpstr>Arial</vt:lpstr>
      <vt:lpstr>Cambria Math</vt:lpstr>
      <vt:lpstr>Trebuchet MS</vt:lpstr>
      <vt:lpstr>Office Theme</vt:lpstr>
      <vt:lpstr>Acrobat Document</vt:lpstr>
      <vt:lpstr>The Effects of Active Vision on Reinforcement Learning Model Performance</vt:lpstr>
      <vt:lpstr>PowerPoint Presentation</vt:lpstr>
      <vt:lpstr>PowerPoint Presentation</vt:lpstr>
      <vt:lpstr>The Active Vision Paradigm</vt:lpstr>
      <vt:lpstr>Methodology: The Foveal Bottleneck</vt:lpstr>
      <vt:lpstr>Methodology: Reduced Rescaled FOVs</vt:lpstr>
      <vt:lpstr>Methodology: Reduced Rescaled FOVs</vt:lpstr>
      <vt:lpstr>Methodology: Reduced Rescaled FOVs</vt:lpstr>
      <vt:lpstr>Methodology: Reduced Rescaled FOVs</vt:lpstr>
      <vt:lpstr>Implementation</vt:lpstr>
      <vt:lpstr>Scenario Design &amp; Evaluation Pipeline</vt:lpstr>
      <vt:lpstr>Level 1</vt:lpstr>
      <vt:lpstr>Level 2</vt:lpstr>
      <vt:lpstr>Level 3 </vt:lpstr>
      <vt:lpstr>Cacodemon Recognition: Enemies List</vt:lpstr>
      <vt:lpstr>Reward Engineering: Training</vt:lpstr>
      <vt:lpstr>Findings &amp; Catastrophic Forgetting</vt:lpstr>
      <vt:lpstr>Evaluation: Reward Structure</vt:lpstr>
      <vt:lpstr>Trained Model Demonstrations</vt:lpstr>
      <vt:lpstr>Trained Model Demonstrations</vt:lpstr>
      <vt:lpstr>Mean Model Performance</vt:lpstr>
      <vt:lpstr>Model Performance: Generalisability </vt:lpstr>
      <vt:lpstr>Conclusion &amp; Future Work</vt:lpstr>
      <vt:lpstr>Conclusion &amp; Future Work</vt:lpstr>
      <vt:lpstr>Bibliography</vt:lpstr>
      <vt:lpstr>Thank you</vt:lpstr>
      <vt:lpstr>Glossary</vt:lpstr>
      <vt:lpstr>Glossary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Battmann Wann</dc:creator>
  <cp:lastModifiedBy>Anonymised</cp:lastModifiedBy>
  <cp:revision>2</cp:revision>
  <dcterms:created xsi:type="dcterms:W3CDTF">2025-09-24T18:58:13Z</dcterms:created>
  <dcterms:modified xsi:type="dcterms:W3CDTF">2026-09-21T10:07:05Z</dcterms:modified>
</cp:coreProperties>
</file>